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omments/modernComment_104_430782C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69" r:id="rId6"/>
    <p:sldId id="260" r:id="rId7"/>
    <p:sldId id="278" r:id="rId8"/>
    <p:sldId id="289" r:id="rId9"/>
    <p:sldId id="277" r:id="rId10"/>
    <p:sldId id="282" r:id="rId11"/>
    <p:sldId id="276" r:id="rId12"/>
    <p:sldId id="283" r:id="rId13"/>
    <p:sldId id="270" r:id="rId14"/>
    <p:sldId id="280" r:id="rId15"/>
    <p:sldId id="271" r:id="rId16"/>
    <p:sldId id="284" r:id="rId17"/>
    <p:sldId id="285" r:id="rId18"/>
    <p:sldId id="286" r:id="rId19"/>
    <p:sldId id="288" r:id="rId20"/>
    <p:sldId id="287" r:id="rId21"/>
    <p:sldId id="272" r:id="rId22"/>
    <p:sldId id="275" r:id="rId23"/>
    <p:sldId id="274" r:id="rId24"/>
    <p:sldId id="273" r:id="rId25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B63AA9-1D21-391B-DFF0-4BDA2D511D79}" name="Marius Marik" initials="MM" userId="3e22c565f38ed5c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C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20A6-92DD-4FD7-8099-4CC1EB123AD7}" v="59" dt="2026-09-12T11:32:31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4019" autoAdjust="0"/>
  </p:normalViewPr>
  <p:slideViewPr>
    <p:cSldViewPr snapToGrid="0">
      <p:cViewPr varScale="1">
        <p:scale>
          <a:sx n="89" d="100"/>
          <a:sy n="89" d="100"/>
        </p:scale>
        <p:origin x="710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1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us Marik" userId="3e22c565f38ed5cc" providerId="LiveId" clId="{B3E4A7A4-ABF7-45B4-A1A6-3CC1C1500245}"/>
    <pc:docChg chg="undo custSel addSld delSld modSld sldOrd">
      <pc:chgData name="Marius Marik" userId="3e22c565f38ed5cc" providerId="LiveId" clId="{B3E4A7A4-ABF7-45B4-A1A6-3CC1C1500245}" dt="2026-09-18T07:21:57.986" v="8807" actId="20577"/>
      <pc:docMkLst>
        <pc:docMk/>
      </pc:docMkLst>
      <pc:sldChg chg="modSp mod">
        <pc:chgData name="Marius Marik" userId="3e22c565f38ed5cc" providerId="LiveId" clId="{B3E4A7A4-ABF7-45B4-A1A6-3CC1C1500245}" dt="2026-09-12T13:16:11.895" v="8628" actId="20577"/>
        <pc:sldMkLst>
          <pc:docMk/>
          <pc:sldMk cId="193000927" sldId="256"/>
        </pc:sldMkLst>
        <pc:spChg chg="mod">
          <ac:chgData name="Marius Marik" userId="3e22c565f38ed5cc" providerId="LiveId" clId="{B3E4A7A4-ABF7-45B4-A1A6-3CC1C1500245}" dt="2026-09-12T13:16:11.895" v="8628" actId="20577"/>
          <ac:spMkLst>
            <pc:docMk/>
            <pc:sldMk cId="193000927" sldId="256"/>
            <ac:spMk id="2" creationId="{3D30D32A-359B-41BB-9746-2CF3A21EEFFC}"/>
          </ac:spMkLst>
        </pc:spChg>
      </pc:sldChg>
      <pc:sldChg chg="addSp delSp modSp mod modNotesTx">
        <pc:chgData name="Marius Marik" userId="3e22c565f38ed5cc" providerId="LiveId" clId="{B3E4A7A4-ABF7-45B4-A1A6-3CC1C1500245}" dt="2026-09-12T10:52:13.523" v="7711" actId="20577"/>
        <pc:sldMkLst>
          <pc:docMk/>
          <pc:sldMk cId="70285356" sldId="260"/>
        </pc:sldMkLst>
        <pc:spChg chg="mod">
          <ac:chgData name="Marius Marik" userId="3e22c565f38ed5cc" providerId="LiveId" clId="{B3E4A7A4-ABF7-45B4-A1A6-3CC1C1500245}" dt="2026-09-12T10:52:13.523" v="7711" actId="20577"/>
          <ac:spMkLst>
            <pc:docMk/>
            <pc:sldMk cId="70285356" sldId="260"/>
            <ac:spMk id="4" creationId="{7A2B228B-B0D6-2CE7-D7D7-FB45285ECFEF}"/>
          </ac:spMkLst>
        </pc:spChg>
      </pc:sldChg>
      <pc:sldChg chg="addSp delSp modSp new mod">
        <pc:chgData name="Marius Marik" userId="3e22c565f38ed5cc" providerId="LiveId" clId="{B3E4A7A4-ABF7-45B4-A1A6-3CC1C1500245}" dt="2026-08-20T10:27:48.056" v="4508" actId="478"/>
        <pc:sldMkLst>
          <pc:docMk/>
          <pc:sldMk cId="1135705016" sldId="271"/>
        </pc:sldMkLst>
        <pc:spChg chg="mod">
          <ac:chgData name="Marius Marik" userId="3e22c565f38ed5cc" providerId="LiveId" clId="{B3E4A7A4-ABF7-45B4-A1A6-3CC1C1500245}" dt="2026-08-20T10:27:46.324" v="4507" actId="27636"/>
          <ac:spMkLst>
            <pc:docMk/>
            <pc:sldMk cId="1135705016" sldId="271"/>
            <ac:spMk id="3" creationId="{3201A681-60F0-DB5E-F10D-C8BC279836BD}"/>
          </ac:spMkLst>
        </pc:spChg>
      </pc:sldChg>
      <pc:sldChg chg="addSp delSp modSp new mod ord">
        <pc:chgData name="Marius Marik" userId="3e22c565f38ed5cc" providerId="LiveId" clId="{B3E4A7A4-ABF7-45B4-A1A6-3CC1C1500245}" dt="2026-09-11T13:29:48.044" v="7691" actId="20577"/>
        <pc:sldMkLst>
          <pc:docMk/>
          <pc:sldMk cId="3761285814" sldId="272"/>
        </pc:sldMkLst>
        <pc:spChg chg="mod">
          <ac:chgData name="Marius Marik" userId="3e22c565f38ed5cc" providerId="LiveId" clId="{B3E4A7A4-ABF7-45B4-A1A6-3CC1C1500245}" dt="2026-09-11T13:29:48.044" v="7691" actId="20577"/>
          <ac:spMkLst>
            <pc:docMk/>
            <pc:sldMk cId="3761285814" sldId="272"/>
            <ac:spMk id="3" creationId="{5AECDEFC-DDFC-ED71-8C72-503404A8FBA1}"/>
          </ac:spMkLst>
        </pc:spChg>
      </pc:sldChg>
      <pc:sldChg chg="modSp mod">
        <pc:chgData name="Marius Marik" userId="3e22c565f38ed5cc" providerId="LiveId" clId="{B3E4A7A4-ABF7-45B4-A1A6-3CC1C1500245}" dt="2026-08-24T17:38:25.218" v="7635" actId="20577"/>
        <pc:sldMkLst>
          <pc:docMk/>
          <pc:sldMk cId="2619016107" sldId="273"/>
        </pc:sldMkLst>
        <pc:spChg chg="mod">
          <ac:chgData name="Marius Marik" userId="3e22c565f38ed5cc" providerId="LiveId" clId="{B3E4A7A4-ABF7-45B4-A1A6-3CC1C1500245}" dt="2026-08-24T17:38:25.218" v="7635" actId="20577"/>
          <ac:spMkLst>
            <pc:docMk/>
            <pc:sldMk cId="2619016107" sldId="273"/>
            <ac:spMk id="3" creationId="{962C1EFF-8949-F583-FEC4-9BA2FA5272DC}"/>
          </ac:spMkLst>
        </pc:spChg>
      </pc:sldChg>
      <pc:sldChg chg="modSp add mod">
        <pc:chgData name="Marius Marik" userId="3e22c565f38ed5cc" providerId="LiveId" clId="{B3E4A7A4-ABF7-45B4-A1A6-3CC1C1500245}" dt="2026-09-18T07:21:57.986" v="8807" actId="20577"/>
        <pc:sldMkLst>
          <pc:docMk/>
          <pc:sldMk cId="591416775" sldId="274"/>
        </pc:sldMkLst>
        <pc:spChg chg="mod">
          <ac:chgData name="Marius Marik" userId="3e22c565f38ed5cc" providerId="LiveId" clId="{B3E4A7A4-ABF7-45B4-A1A6-3CC1C1500245}" dt="2026-09-18T07:21:57.986" v="8807" actId="20577"/>
          <ac:spMkLst>
            <pc:docMk/>
            <pc:sldMk cId="591416775" sldId="274"/>
            <ac:spMk id="3" creationId="{CF77242D-F077-F4D0-D090-6DDEEDFFF182}"/>
          </ac:spMkLst>
        </pc:spChg>
      </pc:sldChg>
      <pc:sldChg chg="modSp add mod">
        <pc:chgData name="Marius Marik" userId="3e22c565f38ed5cc" providerId="LiveId" clId="{B3E4A7A4-ABF7-45B4-A1A6-3CC1C1500245}" dt="2026-09-11T13:29:23.703" v="7682" actId="20577"/>
        <pc:sldMkLst>
          <pc:docMk/>
          <pc:sldMk cId="384401646" sldId="275"/>
        </pc:sldMkLst>
        <pc:spChg chg="mod">
          <ac:chgData name="Marius Marik" userId="3e22c565f38ed5cc" providerId="LiveId" clId="{B3E4A7A4-ABF7-45B4-A1A6-3CC1C1500245}" dt="2026-09-11T13:29:23.703" v="7682" actId="20577"/>
          <ac:spMkLst>
            <pc:docMk/>
            <pc:sldMk cId="384401646" sldId="275"/>
            <ac:spMk id="3" creationId="{40E56796-36B8-F157-F2A4-576B56ABC495}"/>
          </ac:spMkLst>
        </pc:spChg>
      </pc:sldChg>
      <pc:sldChg chg="ord">
        <pc:chgData name="Marius Marik" userId="3e22c565f38ed5cc" providerId="LiveId" clId="{B3E4A7A4-ABF7-45B4-A1A6-3CC1C1500245}" dt="2026-09-12T10:43:07.616" v="7702"/>
        <pc:sldMkLst>
          <pc:docMk/>
          <pc:sldMk cId="3314649853" sldId="276"/>
        </pc:sldMkLst>
      </pc:sldChg>
      <pc:sldChg chg="addSp modSp new mod ord modNotesTx">
        <pc:chgData name="Marius Marik" userId="3e22c565f38ed5cc" providerId="LiveId" clId="{B3E4A7A4-ABF7-45B4-A1A6-3CC1C1500245}" dt="2026-09-12T12:58:50.233" v="8538" actId="20577"/>
        <pc:sldMkLst>
          <pc:docMk/>
          <pc:sldMk cId="2135475016" sldId="277"/>
        </pc:sldMkLst>
        <pc:spChg chg="mod">
          <ac:chgData name="Marius Marik" userId="3e22c565f38ed5cc" providerId="LiveId" clId="{B3E4A7A4-ABF7-45B4-A1A6-3CC1C1500245}" dt="2026-09-12T12:58:50.233" v="8538" actId="20577"/>
          <ac:spMkLst>
            <pc:docMk/>
            <pc:sldMk cId="2135475016" sldId="277"/>
            <ac:spMk id="3" creationId="{C6C978CB-F522-D2E8-625E-3538B49CC31A}"/>
          </ac:spMkLst>
        </pc:spChg>
        <pc:spChg chg="add">
          <ac:chgData name="Marius Marik" userId="3e22c565f38ed5cc" providerId="LiveId" clId="{B3E4A7A4-ABF7-45B4-A1A6-3CC1C1500245}" dt="2026-08-24T17:39:25.079" v="7636" actId="22"/>
          <ac:spMkLst>
            <pc:docMk/>
            <pc:sldMk cId="2135475016" sldId="277"/>
            <ac:spMk id="5" creationId="{FC44C4D2-83C5-BC90-0E7C-5108C0368CE0}"/>
          </ac:spMkLst>
        </pc:spChg>
      </pc:sldChg>
      <pc:sldChg chg="addSp modSp new mod ord">
        <pc:chgData name="Marius Marik" userId="3e22c565f38ed5cc" providerId="LiveId" clId="{B3E4A7A4-ABF7-45B4-A1A6-3CC1C1500245}" dt="2026-09-12T13:49:34.433" v="8658" actId="20577"/>
        <pc:sldMkLst>
          <pc:docMk/>
          <pc:sldMk cId="165920211" sldId="280"/>
        </pc:sldMkLst>
        <pc:spChg chg="mod">
          <ac:chgData name="Marius Marik" userId="3e22c565f38ed5cc" providerId="LiveId" clId="{B3E4A7A4-ABF7-45B4-A1A6-3CC1C1500245}" dt="2026-09-12T13:49:34.433" v="8658" actId="20577"/>
          <ac:spMkLst>
            <pc:docMk/>
            <pc:sldMk cId="165920211" sldId="280"/>
            <ac:spMk id="3" creationId="{6E956C7E-1A77-4CCC-1E71-620001C5EDC4}"/>
          </ac:spMkLst>
        </pc:spChg>
        <pc:spChg chg="add">
          <ac:chgData name="Marius Marik" userId="3e22c565f38ed5cc" providerId="LiveId" clId="{B3E4A7A4-ABF7-45B4-A1A6-3CC1C1500245}" dt="2026-08-24T17:39:40.260" v="7637" actId="22"/>
          <ac:spMkLst>
            <pc:docMk/>
            <pc:sldMk cId="165920211" sldId="280"/>
            <ac:spMk id="5" creationId="{F111785B-A67B-C056-7D0D-25B9CE15038A}"/>
          </ac:spMkLst>
        </pc:spChg>
      </pc:sldChg>
      <pc:sldChg chg="modSp add mod ord">
        <pc:chgData name="Marius Marik" userId="3e22c565f38ed5cc" providerId="LiveId" clId="{B3E4A7A4-ABF7-45B4-A1A6-3CC1C1500245}" dt="2026-09-12T10:57:13.962" v="7794" actId="20577"/>
        <pc:sldMkLst>
          <pc:docMk/>
          <pc:sldMk cId="95083852" sldId="282"/>
        </pc:sldMkLst>
        <pc:spChg chg="mod">
          <ac:chgData name="Marius Marik" userId="3e22c565f38ed5cc" providerId="LiveId" clId="{B3E4A7A4-ABF7-45B4-A1A6-3CC1C1500245}" dt="2026-09-12T10:57:13.962" v="7794" actId="20577"/>
          <ac:spMkLst>
            <pc:docMk/>
            <pc:sldMk cId="95083852" sldId="282"/>
            <ac:spMk id="3" creationId="{3E74DC95-0B1B-97D3-F624-96F32957E21B}"/>
          </ac:spMkLst>
        </pc:spChg>
      </pc:sldChg>
      <pc:sldChg chg="modSp add mod ord">
        <pc:chgData name="Marius Marik" userId="3e22c565f38ed5cc" providerId="LiveId" clId="{B3E4A7A4-ABF7-45B4-A1A6-3CC1C1500245}" dt="2026-09-12T11:04:21.851" v="7980" actId="20577"/>
        <pc:sldMkLst>
          <pc:docMk/>
          <pc:sldMk cId="2816925779" sldId="283"/>
        </pc:sldMkLst>
        <pc:spChg chg="mod">
          <ac:chgData name="Marius Marik" userId="3e22c565f38ed5cc" providerId="LiveId" clId="{B3E4A7A4-ABF7-45B4-A1A6-3CC1C1500245}" dt="2026-09-12T11:04:21.851" v="7980" actId="20577"/>
          <ac:spMkLst>
            <pc:docMk/>
            <pc:sldMk cId="2816925779" sldId="283"/>
            <ac:spMk id="3" creationId="{A65130FA-A13A-97D0-0F4D-25E464074D05}"/>
          </ac:spMkLst>
        </pc:spChg>
      </pc:sldChg>
      <pc:sldChg chg="addSp delSp modSp add mod">
        <pc:chgData name="Marius Marik" userId="3e22c565f38ed5cc" providerId="LiveId" clId="{B3E4A7A4-ABF7-45B4-A1A6-3CC1C1500245}" dt="2026-09-11T13:33:20.431" v="7692" actId="20577"/>
        <pc:sldMkLst>
          <pc:docMk/>
          <pc:sldMk cId="678526862" sldId="284"/>
        </pc:sldMkLst>
        <pc:spChg chg="mod">
          <ac:chgData name="Marius Marik" userId="3e22c565f38ed5cc" providerId="LiveId" clId="{B3E4A7A4-ABF7-45B4-A1A6-3CC1C1500245}" dt="2026-08-20T10:27:54.782" v="4520" actId="20577"/>
          <ac:spMkLst>
            <pc:docMk/>
            <pc:sldMk cId="678526862" sldId="284"/>
            <ac:spMk id="2" creationId="{A21F3D31-DD15-39FD-DE9F-A6EAFA99BF6B}"/>
          </ac:spMkLst>
        </pc:spChg>
        <pc:spChg chg="mod">
          <ac:chgData name="Marius Marik" userId="3e22c565f38ed5cc" providerId="LiveId" clId="{B3E4A7A4-ABF7-45B4-A1A6-3CC1C1500245}" dt="2026-09-11T13:33:20.431" v="7692" actId="20577"/>
          <ac:spMkLst>
            <pc:docMk/>
            <pc:sldMk cId="678526862" sldId="284"/>
            <ac:spMk id="3" creationId="{E022506F-9C56-B556-22E2-95F740BE139B}"/>
          </ac:spMkLst>
        </pc:spChg>
        <pc:picChg chg="add mod">
          <ac:chgData name="Marius Marik" userId="3e22c565f38ed5cc" providerId="LiveId" clId="{B3E4A7A4-ABF7-45B4-A1A6-3CC1C1500245}" dt="2026-08-20T11:14:29.552" v="5695" actId="1076"/>
          <ac:picMkLst>
            <pc:docMk/>
            <pc:sldMk cId="678526862" sldId="284"/>
            <ac:picMk id="7" creationId="{84DFD713-31F9-5A2D-0F0D-774A4E3A8373}"/>
          </ac:picMkLst>
        </pc:picChg>
      </pc:sldChg>
      <pc:sldChg chg="addSp delSp modSp add mod modNotesTx">
        <pc:chgData name="Marius Marik" userId="3e22c565f38ed5cc" providerId="LiveId" clId="{B3E4A7A4-ABF7-45B4-A1A6-3CC1C1500245}" dt="2026-09-12T11:21:35.274" v="8112" actId="27636"/>
        <pc:sldMkLst>
          <pc:docMk/>
          <pc:sldMk cId="2251764330" sldId="285"/>
        </pc:sldMkLst>
        <pc:spChg chg="mod">
          <ac:chgData name="Marius Marik" userId="3e22c565f38ed5cc" providerId="LiveId" clId="{B3E4A7A4-ABF7-45B4-A1A6-3CC1C1500245}" dt="2026-08-20T10:41:26.215" v="5037" actId="20577"/>
          <ac:spMkLst>
            <pc:docMk/>
            <pc:sldMk cId="2251764330" sldId="285"/>
            <ac:spMk id="2" creationId="{D7668169-1F32-4136-89D5-1FF73E7FC750}"/>
          </ac:spMkLst>
        </pc:spChg>
        <pc:spChg chg="mod">
          <ac:chgData name="Marius Marik" userId="3e22c565f38ed5cc" providerId="LiveId" clId="{B3E4A7A4-ABF7-45B4-A1A6-3CC1C1500245}" dt="2026-09-12T11:21:35.274" v="8112" actId="27636"/>
          <ac:spMkLst>
            <pc:docMk/>
            <pc:sldMk cId="2251764330" sldId="285"/>
            <ac:spMk id="3" creationId="{B53D3A61-1A1B-1D31-57DA-C45A9092EB98}"/>
          </ac:spMkLst>
        </pc:spChg>
        <pc:picChg chg="add mod">
          <ac:chgData name="Marius Marik" userId="3e22c565f38ed5cc" providerId="LiveId" clId="{B3E4A7A4-ABF7-45B4-A1A6-3CC1C1500245}" dt="2026-08-21T09:57:06.445" v="5929" actId="1076"/>
          <ac:picMkLst>
            <pc:docMk/>
            <pc:sldMk cId="2251764330" sldId="285"/>
            <ac:picMk id="7" creationId="{26F6F787-4991-6DC2-F239-030ED4CF8ED8}"/>
          </ac:picMkLst>
        </pc:picChg>
      </pc:sldChg>
      <pc:sldChg chg="addSp delSp modSp add mod">
        <pc:chgData name="Marius Marik" userId="3e22c565f38ed5cc" providerId="LiveId" clId="{B3E4A7A4-ABF7-45B4-A1A6-3CC1C1500245}" dt="2026-09-18T06:47:07.013" v="8680" actId="20577"/>
        <pc:sldMkLst>
          <pc:docMk/>
          <pc:sldMk cId="3983888738" sldId="286"/>
        </pc:sldMkLst>
        <pc:spChg chg="mod">
          <ac:chgData name="Marius Marik" userId="3e22c565f38ed5cc" providerId="LiveId" clId="{B3E4A7A4-ABF7-45B4-A1A6-3CC1C1500245}" dt="2026-08-20T11:15:43.261" v="5712" actId="20577"/>
          <ac:spMkLst>
            <pc:docMk/>
            <pc:sldMk cId="3983888738" sldId="286"/>
            <ac:spMk id="2" creationId="{AF2C43DA-0CB5-82D0-4BB9-A2423D5A0085}"/>
          </ac:spMkLst>
        </pc:spChg>
        <pc:spChg chg="mod">
          <ac:chgData name="Marius Marik" userId="3e22c565f38ed5cc" providerId="LiveId" clId="{B3E4A7A4-ABF7-45B4-A1A6-3CC1C1500245}" dt="2026-09-18T06:47:07.013" v="8680" actId="20577"/>
          <ac:spMkLst>
            <pc:docMk/>
            <pc:sldMk cId="3983888738" sldId="286"/>
            <ac:spMk id="3" creationId="{C00CB290-16A4-1FC9-DF49-4C825D4868A5}"/>
          </ac:spMkLst>
        </pc:spChg>
      </pc:sldChg>
      <pc:sldChg chg="addSp delSp modSp add mod">
        <pc:chgData name="Marius Marik" userId="3e22c565f38ed5cc" providerId="LiveId" clId="{B3E4A7A4-ABF7-45B4-A1A6-3CC1C1500245}" dt="2026-08-20T11:14:55.703" v="5701" actId="1076"/>
        <pc:sldMkLst>
          <pc:docMk/>
          <pc:sldMk cId="909459373" sldId="287"/>
        </pc:sldMkLst>
        <pc:spChg chg="mod">
          <ac:chgData name="Marius Marik" userId="3e22c565f38ed5cc" providerId="LiveId" clId="{B3E4A7A4-ABF7-45B4-A1A6-3CC1C1500245}" dt="2026-08-20T10:46:16.983" v="5065" actId="20577"/>
          <ac:spMkLst>
            <pc:docMk/>
            <pc:sldMk cId="909459373" sldId="287"/>
            <ac:spMk id="2" creationId="{2BFE9490-793D-FF71-8F86-E2C2C40DC71E}"/>
          </ac:spMkLst>
        </pc:spChg>
        <pc:spChg chg="mod">
          <ac:chgData name="Marius Marik" userId="3e22c565f38ed5cc" providerId="LiveId" clId="{B3E4A7A4-ABF7-45B4-A1A6-3CC1C1500245}" dt="2026-08-20T11:06:44.852" v="5681" actId="20577"/>
          <ac:spMkLst>
            <pc:docMk/>
            <pc:sldMk cId="909459373" sldId="287"/>
            <ac:spMk id="3" creationId="{BE0EEE81-7B42-4E33-5426-E09FF1EBEAAA}"/>
          </ac:spMkLst>
        </pc:spChg>
        <pc:picChg chg="add mod">
          <ac:chgData name="Marius Marik" userId="3e22c565f38ed5cc" providerId="LiveId" clId="{B3E4A7A4-ABF7-45B4-A1A6-3CC1C1500245}" dt="2026-08-20T11:14:55.703" v="5701" actId="1076"/>
          <ac:picMkLst>
            <pc:docMk/>
            <pc:sldMk cId="909459373" sldId="287"/>
            <ac:picMk id="7" creationId="{5FB4FD8A-7A1D-62E2-1387-99481868857A}"/>
          </ac:picMkLst>
        </pc:picChg>
      </pc:sldChg>
      <pc:sldChg chg="addSp modSp add mod modNotesTx">
        <pc:chgData name="Marius Marik" userId="3e22c565f38ed5cc" providerId="LiveId" clId="{B3E4A7A4-ABF7-45B4-A1A6-3CC1C1500245}" dt="2026-09-12T13:44:52.169" v="8656" actId="20577"/>
        <pc:sldMkLst>
          <pc:docMk/>
          <pc:sldMk cId="771593605" sldId="288"/>
        </pc:sldMkLst>
        <pc:spChg chg="mod">
          <ac:chgData name="Marius Marik" userId="3e22c565f38ed5cc" providerId="LiveId" clId="{B3E4A7A4-ABF7-45B4-A1A6-3CC1C1500245}" dt="2026-09-12T11:31:53.237" v="8463" actId="1076"/>
          <ac:spMkLst>
            <pc:docMk/>
            <pc:sldMk cId="771593605" sldId="288"/>
            <ac:spMk id="3" creationId="{D7F40B05-DA76-B291-E363-9F2446166B2D}"/>
          </ac:spMkLst>
        </pc:spChg>
        <pc:spChg chg="add mod">
          <ac:chgData name="Marius Marik" userId="3e22c565f38ed5cc" providerId="LiveId" clId="{B3E4A7A4-ABF7-45B4-A1A6-3CC1C1500245}" dt="2026-09-12T11:32:31.116" v="8502" actId="108"/>
          <ac:spMkLst>
            <pc:docMk/>
            <pc:sldMk cId="771593605" sldId="288"/>
            <ac:spMk id="6" creationId="{D54165B9-CA11-FB1B-1B55-76B44CCD52E2}"/>
          </ac:spMkLst>
        </pc:spChg>
        <pc:graphicFrameChg chg="add mod modGraphic">
          <ac:chgData name="Marius Marik" userId="3e22c565f38ed5cc" providerId="LiveId" clId="{B3E4A7A4-ABF7-45B4-A1A6-3CC1C1500245}" dt="2026-09-12T11:31:02.511" v="8407" actId="20577"/>
          <ac:graphicFrameMkLst>
            <pc:docMk/>
            <pc:sldMk cId="771593605" sldId="288"/>
            <ac:graphicFrameMk id="4" creationId="{1E2EC43C-F7EF-FE40-99E1-2E84305BBDCC}"/>
          </ac:graphicFrameMkLst>
        </pc:graphicFrameChg>
      </pc:sldChg>
      <pc:sldChg chg="addSp delSp modSp add mod">
        <pc:chgData name="Marius Marik" userId="3e22c565f38ed5cc" providerId="LiveId" clId="{B3E4A7A4-ABF7-45B4-A1A6-3CC1C1500245}" dt="2026-09-12T13:12:42.808" v="8589" actId="33524"/>
        <pc:sldMkLst>
          <pc:docMk/>
          <pc:sldMk cId="3830170409" sldId="289"/>
        </pc:sldMkLst>
        <pc:spChg chg="mod">
          <ac:chgData name="Marius Marik" userId="3e22c565f38ed5cc" providerId="LiveId" clId="{B3E4A7A4-ABF7-45B4-A1A6-3CC1C1500245}" dt="2026-09-12T13:12:42.808" v="8589" actId="33524"/>
          <ac:spMkLst>
            <pc:docMk/>
            <pc:sldMk cId="3830170409" sldId="289"/>
            <ac:spMk id="2" creationId="{38CBA356-DD82-53AC-2D44-A679436FCBC6}"/>
          </ac:spMkLst>
        </pc:spChg>
        <pc:picChg chg="add mod">
          <ac:chgData name="Marius Marik" userId="3e22c565f38ed5cc" providerId="LiveId" clId="{B3E4A7A4-ABF7-45B4-A1A6-3CC1C1500245}" dt="2026-09-12T13:12:15.742" v="8545" actId="1076"/>
          <ac:picMkLst>
            <pc:docMk/>
            <pc:sldMk cId="3830170409" sldId="289"/>
            <ac:picMk id="6" creationId="{42DC03B0-88CC-5D71-B59C-5524677626E6}"/>
          </ac:picMkLst>
        </pc:picChg>
      </pc:sldChg>
    </pc:docChg>
  </pc:docChgLst>
</pc:chgInfo>
</file>

<file path=ppt/comments/modernComment_104_43078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8A9ADD-1FEE-47D4-B9DF-EF005E57B226}" authorId="{47B63AA9-1D21-391B-DFF0-4BDA2D511D79}" created="2026-08-05T12:19:16.5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0285356" sldId="260"/>
      <ac:spMk id="4" creationId="{7A2B228B-B0D6-2CE7-D7D7-FB45285ECFEF}"/>
    </ac:deMkLst>
    <p188:txBody>
      <a:bodyPr/>
      <a:lstStyle/>
      <a:p>
        <a:r>
          <a:rPr lang="en-GB"/>
          <a:t>Fokus auf UX und insbesondere UI.
Ziel Möglichkeiten und Limitationen von KI in Webdev.
Methodik Userbefragung zur Verifikation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01724-5C5A-402A-B907-ECA89FAFA97F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5" csCatId="colorful" phldr="1"/>
      <dgm:spPr/>
      <dgm:t>
        <a:bodyPr/>
        <a:lstStyle/>
        <a:p>
          <a:endParaRPr lang="en-GB"/>
        </a:p>
      </dgm:t>
    </dgm:pt>
    <dgm:pt modelId="{6FA86730-1CE5-4EBE-A9BA-FC19829C945A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AT" noProof="0" dirty="0"/>
            <a:t>Stand der Technik</a:t>
          </a:r>
        </a:p>
      </dgm:t>
    </dgm:pt>
    <dgm:pt modelId="{A1BB3DDB-A2CF-407F-9044-E3AC1B808421}" type="parTrans" cxnId="{ACB259CB-0782-437C-AE91-04CE095D2AE5}">
      <dgm:prSet/>
      <dgm:spPr/>
      <dgm:t>
        <a:bodyPr rtlCol="0"/>
        <a:lstStyle/>
        <a:p>
          <a:pPr rtl="0"/>
          <a:endParaRPr lang="de-DE" noProof="0" dirty="0"/>
        </a:p>
      </dgm:t>
    </dgm:pt>
    <dgm:pt modelId="{F397379E-0BDA-46CE-8393-B1D10C55E1BA}" type="sibTrans" cxnId="{ACB259CB-0782-437C-AE91-04CE095D2AE5}">
      <dgm:prSet/>
      <dgm:spPr/>
      <dgm:t>
        <a:bodyPr rtlCol="0"/>
        <a:lstStyle/>
        <a:p>
          <a:pPr rtl="0"/>
          <a:endParaRPr lang="de-DE" noProof="0" dirty="0"/>
        </a:p>
      </dgm:t>
    </dgm:pt>
    <dgm:pt modelId="{6ABE9384-859D-4C4C-B983-2B1E39A8B348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AT" noProof="0" dirty="0"/>
            <a:t>Beitrag und </a:t>
          </a:r>
          <a:br>
            <a:rPr lang="de-AT" noProof="0" dirty="0"/>
          </a:br>
          <a:r>
            <a:rPr lang="de-AT" noProof="0" dirty="0"/>
            <a:t>Methodik BA</a:t>
          </a:r>
        </a:p>
      </dgm:t>
    </dgm:pt>
    <dgm:pt modelId="{4C63E530-1425-407B-8508-FAC57680DEF0}" type="parTrans" cxnId="{929B611D-ADB7-45E4-812D-4E288BD2D31C}">
      <dgm:prSet/>
      <dgm:spPr/>
      <dgm:t>
        <a:bodyPr rtlCol="0"/>
        <a:lstStyle/>
        <a:p>
          <a:pPr rtl="0"/>
          <a:endParaRPr lang="de-DE" noProof="0" dirty="0"/>
        </a:p>
      </dgm:t>
    </dgm:pt>
    <dgm:pt modelId="{012549DD-A1CA-4571-A981-CFD78093EB20}" type="sibTrans" cxnId="{929B611D-ADB7-45E4-812D-4E288BD2D31C}">
      <dgm:prSet/>
      <dgm:spPr/>
      <dgm:t>
        <a:bodyPr rtlCol="0"/>
        <a:lstStyle/>
        <a:p>
          <a:pPr rtl="0"/>
          <a:endParaRPr lang="de-DE" noProof="0" dirty="0"/>
        </a:p>
      </dgm:t>
    </dgm:pt>
    <dgm:pt modelId="{F7214975-5AC4-4CF8-9015-322498751A8A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AT" noProof="0" dirty="0"/>
            <a:t>Roadmap und Ziel WPF2</a:t>
          </a:r>
        </a:p>
      </dgm:t>
    </dgm:pt>
    <dgm:pt modelId="{51AC1870-5B81-422A-9A2E-E1F58EF50843}" type="parTrans" cxnId="{B7CE7116-0D68-4E90-AA49-C97B6B372915}">
      <dgm:prSet/>
      <dgm:spPr/>
      <dgm:t>
        <a:bodyPr rtlCol="0"/>
        <a:lstStyle/>
        <a:p>
          <a:pPr rtl="0"/>
          <a:endParaRPr lang="de-DE" noProof="0" dirty="0"/>
        </a:p>
      </dgm:t>
    </dgm:pt>
    <dgm:pt modelId="{CE7BE2A3-5633-4666-BB75-6164E26282D5}" type="sibTrans" cxnId="{B7CE7116-0D68-4E90-AA49-C97B6B372915}">
      <dgm:prSet/>
      <dgm:spPr/>
      <dgm:t>
        <a:bodyPr rtlCol="0"/>
        <a:lstStyle/>
        <a:p>
          <a:pPr rtl="0"/>
          <a:endParaRPr lang="de-DE" noProof="0" dirty="0"/>
        </a:p>
      </dgm:t>
    </dgm:pt>
    <dgm:pt modelId="{44164630-2F05-47D6-AD96-D9713C7C94EA}" type="pres">
      <dgm:prSet presAssocID="{53001724-5C5A-402A-B907-ECA89FAFA97F}" presName="root" presStyleCnt="0">
        <dgm:presLayoutVars>
          <dgm:dir/>
          <dgm:resizeHandles val="exact"/>
        </dgm:presLayoutVars>
      </dgm:prSet>
      <dgm:spPr/>
    </dgm:pt>
    <dgm:pt modelId="{BBB5EE06-EDF8-41BB-B38A-75BA74195339}" type="pres">
      <dgm:prSet presAssocID="{6FA86730-1CE5-4EBE-A9BA-FC19829C945A}" presName="compNode" presStyleCnt="0"/>
      <dgm:spPr/>
    </dgm:pt>
    <dgm:pt modelId="{BD3976FF-3460-411F-BC23-D0B68261F465}" type="pres">
      <dgm:prSet presAssocID="{6FA86730-1CE5-4EBE-A9BA-FC19829C945A}" presName="bgRect" presStyleLbl="bgShp" presStyleIdx="0" presStyleCnt="3"/>
      <dgm:spPr/>
    </dgm:pt>
    <dgm:pt modelId="{55596134-9829-4D70-890A-C69BBF81D77E}" type="pres">
      <dgm:prSet presAssocID="{6FA86730-1CE5-4EBE-A9BA-FC19829C945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F52B154-BE74-4151-893E-30A55BCE1232}" type="pres">
      <dgm:prSet presAssocID="{6FA86730-1CE5-4EBE-A9BA-FC19829C945A}" presName="spaceRect" presStyleCnt="0"/>
      <dgm:spPr/>
    </dgm:pt>
    <dgm:pt modelId="{317AA252-427D-40A4-8C7D-92392117FEF6}" type="pres">
      <dgm:prSet presAssocID="{6FA86730-1CE5-4EBE-A9BA-FC19829C945A}" presName="parTx" presStyleLbl="revTx" presStyleIdx="0" presStyleCnt="3">
        <dgm:presLayoutVars>
          <dgm:chMax val="0"/>
          <dgm:chPref val="0"/>
        </dgm:presLayoutVars>
      </dgm:prSet>
      <dgm:spPr/>
    </dgm:pt>
    <dgm:pt modelId="{DB828AB6-BF3C-4FBC-936A-ABF577D4A72E}" type="pres">
      <dgm:prSet presAssocID="{F397379E-0BDA-46CE-8393-B1D10C55E1BA}" presName="sibTrans" presStyleCnt="0"/>
      <dgm:spPr/>
    </dgm:pt>
    <dgm:pt modelId="{2862063A-01C9-45B8-BC29-0877E16269D6}" type="pres">
      <dgm:prSet presAssocID="{6ABE9384-859D-4C4C-B983-2B1E39A8B348}" presName="compNode" presStyleCnt="0"/>
      <dgm:spPr/>
    </dgm:pt>
    <dgm:pt modelId="{5DD1A591-E379-4123-AFEF-0E0E1C78A6C8}" type="pres">
      <dgm:prSet presAssocID="{6ABE9384-859D-4C4C-B983-2B1E39A8B348}" presName="bgRect" presStyleLbl="bgShp" presStyleIdx="1" presStyleCnt="3"/>
      <dgm:spPr/>
    </dgm:pt>
    <dgm:pt modelId="{FCE68459-8AC8-4D4B-8B2A-B85347F651AB}" type="pres">
      <dgm:prSet presAssocID="{6ABE9384-859D-4C4C-B983-2B1E39A8B34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840CE1B-2464-4289-B418-12904C5D46CE}" type="pres">
      <dgm:prSet presAssocID="{6ABE9384-859D-4C4C-B983-2B1E39A8B348}" presName="spaceRect" presStyleCnt="0"/>
      <dgm:spPr/>
    </dgm:pt>
    <dgm:pt modelId="{0F75F18A-3C22-462D-9DAB-5E8D88D9A51B}" type="pres">
      <dgm:prSet presAssocID="{6ABE9384-859D-4C4C-B983-2B1E39A8B348}" presName="parTx" presStyleLbl="revTx" presStyleIdx="1" presStyleCnt="3">
        <dgm:presLayoutVars>
          <dgm:chMax val="0"/>
          <dgm:chPref val="0"/>
        </dgm:presLayoutVars>
      </dgm:prSet>
      <dgm:spPr/>
    </dgm:pt>
    <dgm:pt modelId="{AC2B0169-D740-4583-96BE-D8F87AC7FE01}" type="pres">
      <dgm:prSet presAssocID="{012549DD-A1CA-4571-A981-CFD78093EB20}" presName="sibTrans" presStyleCnt="0"/>
      <dgm:spPr/>
    </dgm:pt>
    <dgm:pt modelId="{9602AFE8-70EE-42FC-9CD5-A2E6AA3E2091}" type="pres">
      <dgm:prSet presAssocID="{F7214975-5AC4-4CF8-9015-322498751A8A}" presName="compNode" presStyleCnt="0"/>
      <dgm:spPr/>
    </dgm:pt>
    <dgm:pt modelId="{B231036C-5FBE-4605-8393-F1B6359EE169}" type="pres">
      <dgm:prSet presAssocID="{F7214975-5AC4-4CF8-9015-322498751A8A}" presName="bgRect" presStyleLbl="bgShp" presStyleIdx="2" presStyleCnt="3"/>
      <dgm:spPr/>
    </dgm:pt>
    <dgm:pt modelId="{A64BFE9C-AA80-43CE-8FF6-8D33BAD07C57}" type="pres">
      <dgm:prSet presAssocID="{F7214975-5AC4-4CF8-9015-322498751A8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2D725CFB-B072-491A-B436-3AD21D0542FE}" type="pres">
      <dgm:prSet presAssocID="{F7214975-5AC4-4CF8-9015-322498751A8A}" presName="spaceRect" presStyleCnt="0"/>
      <dgm:spPr/>
    </dgm:pt>
    <dgm:pt modelId="{556AE736-B6E0-4DC7-8429-5ADFCF947C4F}" type="pres">
      <dgm:prSet presAssocID="{F7214975-5AC4-4CF8-9015-322498751A8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7CE7116-0D68-4E90-AA49-C97B6B372915}" srcId="{53001724-5C5A-402A-B907-ECA89FAFA97F}" destId="{F7214975-5AC4-4CF8-9015-322498751A8A}" srcOrd="2" destOrd="0" parTransId="{51AC1870-5B81-422A-9A2E-E1F58EF50843}" sibTransId="{CE7BE2A3-5633-4666-BB75-6164E26282D5}"/>
    <dgm:cxn modelId="{929B611D-ADB7-45E4-812D-4E288BD2D31C}" srcId="{53001724-5C5A-402A-B907-ECA89FAFA97F}" destId="{6ABE9384-859D-4C4C-B983-2B1E39A8B348}" srcOrd="1" destOrd="0" parTransId="{4C63E530-1425-407B-8508-FAC57680DEF0}" sibTransId="{012549DD-A1CA-4571-A981-CFD78093EB20}"/>
    <dgm:cxn modelId="{E42F3627-E378-4611-9E44-8C53F460E990}" type="presOf" srcId="{6FA86730-1CE5-4EBE-A9BA-FC19829C945A}" destId="{317AA252-427D-40A4-8C7D-92392117FEF6}" srcOrd="0" destOrd="0" presId="urn:microsoft.com/office/officeart/2018/2/layout/IconVerticalSolidList"/>
    <dgm:cxn modelId="{1C605B4C-E51E-44B8-8933-D52963ED863D}" type="presOf" srcId="{6ABE9384-859D-4C4C-B983-2B1E39A8B348}" destId="{0F75F18A-3C22-462D-9DAB-5E8D88D9A51B}" srcOrd="0" destOrd="0" presId="urn:microsoft.com/office/officeart/2018/2/layout/IconVerticalSolidList"/>
    <dgm:cxn modelId="{D0D95555-C348-4CF7-8A46-F7A2BF92D08A}" type="presOf" srcId="{53001724-5C5A-402A-B907-ECA89FAFA97F}" destId="{44164630-2F05-47D6-AD96-D9713C7C94EA}" srcOrd="0" destOrd="0" presId="urn:microsoft.com/office/officeart/2018/2/layout/IconVerticalSolidList"/>
    <dgm:cxn modelId="{25117D8B-5CE2-438F-9411-12A7FD4D7BCF}" type="presOf" srcId="{F7214975-5AC4-4CF8-9015-322498751A8A}" destId="{556AE736-B6E0-4DC7-8429-5ADFCF947C4F}" srcOrd="0" destOrd="0" presId="urn:microsoft.com/office/officeart/2018/2/layout/IconVerticalSolidList"/>
    <dgm:cxn modelId="{ACB259CB-0782-437C-AE91-04CE095D2AE5}" srcId="{53001724-5C5A-402A-B907-ECA89FAFA97F}" destId="{6FA86730-1CE5-4EBE-A9BA-FC19829C945A}" srcOrd="0" destOrd="0" parTransId="{A1BB3DDB-A2CF-407F-9044-E3AC1B808421}" sibTransId="{F397379E-0BDA-46CE-8393-B1D10C55E1BA}"/>
    <dgm:cxn modelId="{9FB3D75A-7318-40AD-9643-F5D113BEF3EA}" type="presParOf" srcId="{44164630-2F05-47D6-AD96-D9713C7C94EA}" destId="{BBB5EE06-EDF8-41BB-B38A-75BA74195339}" srcOrd="0" destOrd="0" presId="urn:microsoft.com/office/officeart/2018/2/layout/IconVerticalSolidList"/>
    <dgm:cxn modelId="{9FE1ADA8-0652-4F08-909B-6F1F8C7865F7}" type="presParOf" srcId="{BBB5EE06-EDF8-41BB-B38A-75BA74195339}" destId="{BD3976FF-3460-411F-BC23-D0B68261F465}" srcOrd="0" destOrd="0" presId="urn:microsoft.com/office/officeart/2018/2/layout/IconVerticalSolidList"/>
    <dgm:cxn modelId="{02F1752E-8943-4CED-AB23-FD169E28320D}" type="presParOf" srcId="{BBB5EE06-EDF8-41BB-B38A-75BA74195339}" destId="{55596134-9829-4D70-890A-C69BBF81D77E}" srcOrd="1" destOrd="0" presId="urn:microsoft.com/office/officeart/2018/2/layout/IconVerticalSolidList"/>
    <dgm:cxn modelId="{B0AA3935-03A2-4CCF-A853-AB8E050001AB}" type="presParOf" srcId="{BBB5EE06-EDF8-41BB-B38A-75BA74195339}" destId="{EF52B154-BE74-4151-893E-30A55BCE1232}" srcOrd="2" destOrd="0" presId="urn:microsoft.com/office/officeart/2018/2/layout/IconVerticalSolidList"/>
    <dgm:cxn modelId="{27C9A290-584D-453B-93FD-FA35380C106B}" type="presParOf" srcId="{BBB5EE06-EDF8-41BB-B38A-75BA74195339}" destId="{317AA252-427D-40A4-8C7D-92392117FEF6}" srcOrd="3" destOrd="0" presId="urn:microsoft.com/office/officeart/2018/2/layout/IconVerticalSolidList"/>
    <dgm:cxn modelId="{78E03A4A-6EE4-4028-8A51-8793E0D3E1A8}" type="presParOf" srcId="{44164630-2F05-47D6-AD96-D9713C7C94EA}" destId="{DB828AB6-BF3C-4FBC-936A-ABF577D4A72E}" srcOrd="1" destOrd="0" presId="urn:microsoft.com/office/officeart/2018/2/layout/IconVerticalSolidList"/>
    <dgm:cxn modelId="{37B51E1B-2833-450E-AED0-0479588A1773}" type="presParOf" srcId="{44164630-2F05-47D6-AD96-D9713C7C94EA}" destId="{2862063A-01C9-45B8-BC29-0877E16269D6}" srcOrd="2" destOrd="0" presId="urn:microsoft.com/office/officeart/2018/2/layout/IconVerticalSolidList"/>
    <dgm:cxn modelId="{0568F507-FCED-4896-B7EE-3C55B05820B4}" type="presParOf" srcId="{2862063A-01C9-45B8-BC29-0877E16269D6}" destId="{5DD1A591-E379-4123-AFEF-0E0E1C78A6C8}" srcOrd="0" destOrd="0" presId="urn:microsoft.com/office/officeart/2018/2/layout/IconVerticalSolidList"/>
    <dgm:cxn modelId="{3350E533-B59F-4225-911C-3AF81C5BB096}" type="presParOf" srcId="{2862063A-01C9-45B8-BC29-0877E16269D6}" destId="{FCE68459-8AC8-4D4B-8B2A-B85347F651AB}" srcOrd="1" destOrd="0" presId="urn:microsoft.com/office/officeart/2018/2/layout/IconVerticalSolidList"/>
    <dgm:cxn modelId="{D1507AE6-EFD3-4D91-8F89-13072D5D3B99}" type="presParOf" srcId="{2862063A-01C9-45B8-BC29-0877E16269D6}" destId="{7840CE1B-2464-4289-B418-12904C5D46CE}" srcOrd="2" destOrd="0" presId="urn:microsoft.com/office/officeart/2018/2/layout/IconVerticalSolidList"/>
    <dgm:cxn modelId="{3F44C565-7FFB-4A68-99E4-AC437FE954ED}" type="presParOf" srcId="{2862063A-01C9-45B8-BC29-0877E16269D6}" destId="{0F75F18A-3C22-462D-9DAB-5E8D88D9A51B}" srcOrd="3" destOrd="0" presId="urn:microsoft.com/office/officeart/2018/2/layout/IconVerticalSolidList"/>
    <dgm:cxn modelId="{4A49B124-E089-4890-B36F-962056FA9588}" type="presParOf" srcId="{44164630-2F05-47D6-AD96-D9713C7C94EA}" destId="{AC2B0169-D740-4583-96BE-D8F87AC7FE01}" srcOrd="3" destOrd="0" presId="urn:microsoft.com/office/officeart/2018/2/layout/IconVerticalSolidList"/>
    <dgm:cxn modelId="{8CF64B13-46A8-42CA-8DD2-87241C9E1D4B}" type="presParOf" srcId="{44164630-2F05-47D6-AD96-D9713C7C94EA}" destId="{9602AFE8-70EE-42FC-9CD5-A2E6AA3E2091}" srcOrd="4" destOrd="0" presId="urn:microsoft.com/office/officeart/2018/2/layout/IconVerticalSolidList"/>
    <dgm:cxn modelId="{8CB9CD9D-905C-4263-9E48-D0A18051D03C}" type="presParOf" srcId="{9602AFE8-70EE-42FC-9CD5-A2E6AA3E2091}" destId="{B231036C-5FBE-4605-8393-F1B6359EE169}" srcOrd="0" destOrd="0" presId="urn:microsoft.com/office/officeart/2018/2/layout/IconVerticalSolidList"/>
    <dgm:cxn modelId="{82828E1A-3E6B-4878-B080-25C2C978B9AE}" type="presParOf" srcId="{9602AFE8-70EE-42FC-9CD5-A2E6AA3E2091}" destId="{A64BFE9C-AA80-43CE-8FF6-8D33BAD07C57}" srcOrd="1" destOrd="0" presId="urn:microsoft.com/office/officeart/2018/2/layout/IconVerticalSolidList"/>
    <dgm:cxn modelId="{07115384-BCC9-4BBA-9940-4283AA60CBB1}" type="presParOf" srcId="{9602AFE8-70EE-42FC-9CD5-A2E6AA3E2091}" destId="{2D725CFB-B072-491A-B436-3AD21D0542FE}" srcOrd="2" destOrd="0" presId="urn:microsoft.com/office/officeart/2018/2/layout/IconVerticalSolidList"/>
    <dgm:cxn modelId="{8EE77B3E-8046-4DAA-9D80-2E3511DF47D2}" type="presParOf" srcId="{9602AFE8-70EE-42FC-9CD5-A2E6AA3E2091}" destId="{556AE736-B6E0-4DC7-8429-5ADFCF947C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976FF-3460-411F-BC23-D0B68261F465}">
      <dsp:nvSpPr>
        <dsp:cNvPr id="0" name=""/>
        <dsp:cNvSpPr/>
      </dsp:nvSpPr>
      <dsp:spPr>
        <a:xfrm>
          <a:off x="0" y="465"/>
          <a:ext cx="4802031" cy="10883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96134-9829-4D70-890A-C69BBF81D77E}">
      <dsp:nvSpPr>
        <dsp:cNvPr id="0" name=""/>
        <dsp:cNvSpPr/>
      </dsp:nvSpPr>
      <dsp:spPr>
        <a:xfrm>
          <a:off x="329212" y="245333"/>
          <a:ext cx="598567" cy="5985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AA252-427D-40A4-8C7D-92392117FEF6}">
      <dsp:nvSpPr>
        <dsp:cNvPr id="0" name=""/>
        <dsp:cNvSpPr/>
      </dsp:nvSpPr>
      <dsp:spPr>
        <a:xfrm>
          <a:off x="1256992" y="465"/>
          <a:ext cx="3545038" cy="1088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79" tIns="115179" rIns="115179" bIns="115179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500" kern="1200" noProof="0" dirty="0"/>
            <a:t>Stand der Technik</a:t>
          </a:r>
        </a:p>
      </dsp:txBody>
      <dsp:txXfrm>
        <a:off x="1256992" y="465"/>
        <a:ext cx="3545038" cy="1088305"/>
      </dsp:txXfrm>
    </dsp:sp>
    <dsp:sp modelId="{5DD1A591-E379-4123-AFEF-0E0E1C78A6C8}">
      <dsp:nvSpPr>
        <dsp:cNvPr id="0" name=""/>
        <dsp:cNvSpPr/>
      </dsp:nvSpPr>
      <dsp:spPr>
        <a:xfrm>
          <a:off x="0" y="1360846"/>
          <a:ext cx="4802031" cy="10883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E68459-8AC8-4D4B-8B2A-B85347F651AB}">
      <dsp:nvSpPr>
        <dsp:cNvPr id="0" name=""/>
        <dsp:cNvSpPr/>
      </dsp:nvSpPr>
      <dsp:spPr>
        <a:xfrm>
          <a:off x="329212" y="1605715"/>
          <a:ext cx="598567" cy="5985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75F18A-3C22-462D-9DAB-5E8D88D9A51B}">
      <dsp:nvSpPr>
        <dsp:cNvPr id="0" name=""/>
        <dsp:cNvSpPr/>
      </dsp:nvSpPr>
      <dsp:spPr>
        <a:xfrm>
          <a:off x="1256992" y="1360846"/>
          <a:ext cx="3545038" cy="1088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79" tIns="115179" rIns="115179" bIns="115179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500" kern="1200" noProof="0" dirty="0"/>
            <a:t>Beitrag und </a:t>
          </a:r>
          <a:br>
            <a:rPr lang="de-AT" sz="2500" kern="1200" noProof="0" dirty="0"/>
          </a:br>
          <a:r>
            <a:rPr lang="de-AT" sz="2500" kern="1200" noProof="0" dirty="0"/>
            <a:t>Methodik BA</a:t>
          </a:r>
        </a:p>
      </dsp:txBody>
      <dsp:txXfrm>
        <a:off x="1256992" y="1360846"/>
        <a:ext cx="3545038" cy="1088305"/>
      </dsp:txXfrm>
    </dsp:sp>
    <dsp:sp modelId="{B231036C-5FBE-4605-8393-F1B6359EE169}">
      <dsp:nvSpPr>
        <dsp:cNvPr id="0" name=""/>
        <dsp:cNvSpPr/>
      </dsp:nvSpPr>
      <dsp:spPr>
        <a:xfrm>
          <a:off x="0" y="2721228"/>
          <a:ext cx="4802031" cy="10883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BFE9C-AA80-43CE-8FF6-8D33BAD07C57}">
      <dsp:nvSpPr>
        <dsp:cNvPr id="0" name=""/>
        <dsp:cNvSpPr/>
      </dsp:nvSpPr>
      <dsp:spPr>
        <a:xfrm>
          <a:off x="329212" y="2966097"/>
          <a:ext cx="598567" cy="5985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AE736-B6E0-4DC7-8429-5ADFCF947C4F}">
      <dsp:nvSpPr>
        <dsp:cNvPr id="0" name=""/>
        <dsp:cNvSpPr/>
      </dsp:nvSpPr>
      <dsp:spPr>
        <a:xfrm>
          <a:off x="1256992" y="2721228"/>
          <a:ext cx="3545038" cy="1088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79" tIns="115179" rIns="115179" bIns="115179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500" kern="1200" noProof="0" dirty="0"/>
            <a:t>Roadmap und Ziel WPF2</a:t>
          </a:r>
        </a:p>
      </dsp:txBody>
      <dsp:txXfrm>
        <a:off x="1256992" y="2721228"/>
        <a:ext cx="3545038" cy="1088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Vertikale ausgefüllte Symbolliste"/>
  <dgm:desc val="Hiermit zeigen Sie eine Reihe visueller Elemente von oben nach unten an, wobei Text der Ebene 1 oder der Ebenen 1 und 2 in einer Form gruppiert wird. Eignet sich am besten für Symbole oder kleine Bilder mit längeren Beschreibungen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369113-FD27-4AB2-B6F1-E90E909408A8}" type="datetime1">
              <a:rPr lang="de-DE" smtClean="0"/>
              <a:t>02.10.2026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668C69-0C3E-40A2-B4A0-B2C8B71D8E3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748EBC-A3EE-42DF-8857-FAA3BAFDBFAD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000EEB-8338-48D7-8EE8-EE0082EF7602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4338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1.Fokus auf UX und insbesondere UI.</a:t>
            </a:r>
            <a:b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Ziel Möglichkeiten und Limitationen von KI in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Webdev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Methodik Userbefragung zur Verifikation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016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5274-AFC0-9290-8890-0B023B12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504EFC9-6E0D-F2DF-8D64-D8AF3F5F7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1F14DB-E781-90FB-677B-C6C041080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E97FE3-558D-7802-6511-A46C0A479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8048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CF84-D340-730F-562A-A3FAD46C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8562F02-3F44-8C35-1270-981315DBD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7E3FA9-DC50-B871-B57D-5FD8608E9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6C01FA-2406-B442-B4F6-C1EA30086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6788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LLM </a:t>
            </a:r>
            <a:r>
              <a:rPr lang="en-GB" dirty="0" err="1"/>
              <a:t>mit</a:t>
            </a:r>
            <a:r>
              <a:rPr lang="en-GB" dirty="0"/>
              <a:t> Tool access </a:t>
            </a:r>
            <a:r>
              <a:rPr lang="en-GB" dirty="0" err="1"/>
              <a:t>kann</a:t>
            </a:r>
            <a:r>
              <a:rPr lang="en-GB" dirty="0"/>
              <a:t> </a:t>
            </a:r>
            <a:r>
              <a:rPr lang="en-GB" dirty="0" err="1"/>
              <a:t>z.B.</a:t>
            </a:r>
            <a:r>
              <a:rPr lang="en-GB" dirty="0"/>
              <a:t> auf eigen DB </a:t>
            </a:r>
            <a:r>
              <a:rPr lang="en-GB" dirty="0" err="1"/>
              <a:t>zugreifen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selbständig</a:t>
            </a:r>
            <a:r>
              <a:rPr lang="en-GB" dirty="0"/>
              <a:t> Andere APIs </a:t>
            </a:r>
            <a:r>
              <a:rPr lang="en-GB" dirty="0" err="1"/>
              <a:t>callen</a:t>
            </a:r>
            <a:r>
              <a:rPr lang="en-GB" dirty="0"/>
              <a:t>. </a:t>
            </a:r>
            <a:r>
              <a:rPr lang="en-GB" dirty="0" err="1"/>
              <a:t>Trotzdem</a:t>
            </a:r>
            <a:r>
              <a:rPr lang="en-GB" dirty="0"/>
              <a:t> </a:t>
            </a:r>
            <a:r>
              <a:rPr lang="en-GB" dirty="0" err="1"/>
              <a:t>meist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1 Schritt per </a:t>
            </a:r>
            <a:r>
              <a:rPr lang="en-GB" dirty="0" err="1"/>
              <a:t>Inputanweisung</a:t>
            </a:r>
            <a:endParaRPr lang="en-GB" dirty="0"/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de-DE" noProof="0" smtClean="0"/>
              <a:t>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85967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de-DE" noProof="0" smtClean="0"/>
              <a:t>13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179135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Generischen</a:t>
            </a:r>
            <a:r>
              <a:rPr lang="en-GB" dirty="0"/>
              <a:t> </a:t>
            </a:r>
            <a:r>
              <a:rPr lang="en-GB" dirty="0" err="1"/>
              <a:t>wiederverndbares</a:t>
            </a:r>
            <a:r>
              <a:rPr lang="en-GB" dirty="0"/>
              <a:t> System </a:t>
            </a:r>
            <a:r>
              <a:rPr lang="en-GB" dirty="0" err="1"/>
              <a:t>z.B.</a:t>
            </a:r>
            <a:r>
              <a:rPr lang="en-GB" dirty="0"/>
              <a:t> UI </a:t>
            </a:r>
            <a:r>
              <a:rPr lang="en-GB" dirty="0" err="1"/>
              <a:t>Komponenten</a:t>
            </a:r>
            <a:r>
              <a:rPr lang="en-GB" dirty="0"/>
              <a:t>, </a:t>
            </a:r>
            <a:r>
              <a:rPr lang="en-GB" dirty="0" err="1"/>
              <a:t>wie</a:t>
            </a:r>
            <a:r>
              <a:rPr lang="en-GB" dirty="0"/>
              <a:t> </a:t>
            </a:r>
            <a:r>
              <a:rPr lang="en-GB" dirty="0" err="1"/>
              <a:t>Skillpanel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de-DE" noProof="0" smtClean="0"/>
              <a:t>14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590133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Threts</a:t>
            </a:r>
            <a:r>
              <a:rPr lang="en-GB" dirty="0"/>
              <a:t> to validity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de-DE" noProof="0" smtClean="0"/>
              <a:t>16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8120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B1A921-5DF6-4456-8613-8FB69A974207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A153BB-FAF0-4962-9FA9-1B930B8797A5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0036BB-79B8-4792-BB3C-C8518DBE1BCD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72844F-8337-45C1-BED1-E8832A705D34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E2EC75-62E0-4648-9A15-F44B31F78049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7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A66140-1E56-4327-AB5D-2542076B54AB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24735B-3BD6-493C-9CDF-09DF5FC9311E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7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8A6788-E536-4E7A-862D-E3268ACDC497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7B91CF-26BF-4C53-90BD-8E862D8C1466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it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DC55B9-266F-404E-BF6A-16ADB6B79E9D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DC69D3-AE25-47F0-A877-0C8CF817D4A9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4" name="Textplatzhalter 3"/>
          <p:cNvSpPr>
            <a:spLocks noGrp="1"/>
          </p:cNvSpPr>
          <p:nvPr>
            <p:ph type="body" sz="half" idx="13" hasCustomPrompt="1"/>
          </p:nvPr>
        </p:nvSpPr>
        <p:spPr>
          <a:xfrm>
            <a:off x="1930400" y="3771174"/>
            <a:ext cx="727964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55A79B-3032-4D08-B973-156D52A75F5B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  <p:sp>
        <p:nvSpPr>
          <p:cNvPr id="9" name="Textfeld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“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"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E7064D-D88F-40C7-A5B3-D968AFE64FEE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0" name="Textplatzhalter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cxnSp>
        <p:nvCxnSpPr>
          <p:cNvPr id="17" name="Gerader Verbinde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EB6F81-5B05-4B84-A66D-CC8A13702489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9" name="Bildplatzhalt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0" name="Bildplatzhalter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23" name="Textplatzhalter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1" name="Bildplatzhalter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cxnSp>
        <p:nvCxnSpPr>
          <p:cNvPr id="17" name="Gerader Verbinde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19FDBB-4272-4B40-8A7D-6264F3C77F22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FC692A-B7C0-41A3-BC9A-9DE8FF4EA71F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9C3D22-32CD-4D3C-A823-B5BBA82C4254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Bild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Ellipse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hteck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940700D4-5BBE-482D-9A73-1F42C25AFB10}" type="datetime1">
              <a:rPr lang="de-DE" noProof="0" smtClean="0"/>
              <a:t>02.10.2026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de-DE" noProof="0" smtClean="0"/>
              <a:t>‹Nr.›</a:t>
            </a:fld>
            <a:endParaRPr lang="de-DE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microsoft.com/office/2007/relationships/hdphoto" Target="../media/hdphoto1.wdp"/><Relationship Id="rId4" Type="http://schemas.openxmlformats.org/officeDocument/2006/relationships/diagramData" Target="../diagrams/data1.xml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430782C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Kettenglieder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8825658" cy="3329581"/>
          </a:xfrm>
        </p:spPr>
        <p:txBody>
          <a:bodyPr rtlCol="0">
            <a:noAutofit/>
          </a:bodyPr>
          <a:lstStyle/>
          <a:p>
            <a:r>
              <a:rPr lang="de-AT" sz="4800" noProof="0" dirty="0">
                <a:solidFill>
                  <a:srgbClr val="FFFFFF"/>
                </a:solidFill>
              </a:rPr>
              <a:t>Generative KI für Solospieleentwicklung: Effizienzauswirkung und Limitationen in einem RPG- Projekt</a:t>
            </a:r>
            <a:endParaRPr lang="de-AT" sz="48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>
            <a:normAutofit/>
          </a:bodyPr>
          <a:lstStyle/>
          <a:p>
            <a:pPr rtl="0"/>
            <a:r>
              <a:rPr lang="de-AT" noProof="0" dirty="0"/>
              <a:t>Marius Marik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4174D3-6B10-409E-9110-EEBEAA7E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8" y="629266"/>
            <a:ext cx="5207691" cy="1641986"/>
          </a:xfrm>
        </p:spPr>
        <p:txBody>
          <a:bodyPr rtlCol="0">
            <a:normAutofit/>
          </a:bodyPr>
          <a:lstStyle/>
          <a:p>
            <a:pPr rtl="0"/>
            <a:r>
              <a:rPr lang="de-AT" spc="-30" noProof="0" dirty="0"/>
              <a:t>Inhalt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7527E565-DE8D-445C-9879-AD1D04415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  <p:graphicFrame>
        <p:nvGraphicFramePr>
          <p:cNvPr id="4" name="Inhaltsplatzhalter 3" descr="SmartArt-Grafik">
            <a:extLst>
              <a:ext uri="{FF2B5EF4-FFF2-40B4-BE49-F238E27FC236}">
                <a16:creationId xmlns:a16="http://schemas.microsoft.com/office/drawing/2014/main" id="{C881A426-2B90-41D4-8B71-F9600C3FCE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807374"/>
              </p:ext>
            </p:extLst>
          </p:nvPr>
        </p:nvGraphicFramePr>
        <p:xfrm>
          <a:off x="650668" y="2438400"/>
          <a:ext cx="4802031" cy="380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8EFA2883-B1F4-3965-3B82-DBD77B7D6D7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8887" y="5378577"/>
            <a:ext cx="429547" cy="64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8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3DC570-72AC-45BE-BB60-458EBBAC8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28" y="626891"/>
            <a:ext cx="9404723" cy="525253"/>
          </a:xfrm>
        </p:spPr>
        <p:txBody>
          <a:bodyPr rtlCol="0"/>
          <a:lstStyle/>
          <a:p>
            <a:pPr rtl="0"/>
            <a:r>
              <a:rPr lang="de-AT" sz="3200" noProof="0" dirty="0"/>
              <a:t>Stand der Technik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2B228B-B0D6-2CE7-D7D7-FB45285EC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Bekannte Nutzung von KI zur Entwicklung komplizierter Software Systeme (von Einzelpersonen)</a:t>
            </a:r>
          </a:p>
          <a:p>
            <a:pPr lvl="1"/>
            <a:r>
              <a:rPr lang="de-AT" noProof="0" dirty="0"/>
              <a:t>Arbeiten mit KI per „Schritt für Schritt“ Ansatz vergleich mit </a:t>
            </a:r>
            <a:r>
              <a:rPr lang="de-AT" noProof="0" dirty="0" err="1"/>
              <a:t>agentic</a:t>
            </a:r>
            <a:r>
              <a:rPr lang="de-AT" noProof="0" dirty="0"/>
              <a:t> AI mit vollem Repo Zugriff</a:t>
            </a:r>
          </a:p>
          <a:p>
            <a:pPr lvl="1"/>
            <a:endParaRPr lang="de-AT" noProof="0" dirty="0"/>
          </a:p>
          <a:p>
            <a:pPr lvl="1"/>
            <a:endParaRPr lang="de-AT" noProof="0" dirty="0"/>
          </a:p>
          <a:p>
            <a:pPr lvl="1"/>
            <a:endParaRPr lang="de-AT" noProof="0" dirty="0"/>
          </a:p>
          <a:p>
            <a:pPr lvl="1"/>
            <a:r>
              <a:rPr lang="de-AT" noProof="0" dirty="0"/>
              <a:t>Outcome: Starkes Werkzeug in Menschenhand, aber noch nicht in der Lage alleinstehend </a:t>
            </a:r>
            <a:r>
              <a:rPr lang="de-AT" dirty="0"/>
              <a:t>z</a:t>
            </a:r>
            <a:r>
              <a:rPr lang="de-AT" noProof="0" dirty="0" err="1"/>
              <a:t>ufriedenstellende</a:t>
            </a:r>
            <a:r>
              <a:rPr lang="de-AT" noProof="0" dirty="0"/>
              <a:t> Webseiten zu erzeugen.</a:t>
            </a:r>
          </a:p>
        </p:txBody>
      </p:sp>
      <p:sp>
        <p:nvSpPr>
          <p:cNvPr id="5" name="Rechteck 4" descr="Gears">
            <a:extLst>
              <a:ext uri="{FF2B5EF4-FFF2-40B4-BE49-F238E27FC236}">
                <a16:creationId xmlns:a16="http://schemas.microsoft.com/office/drawing/2014/main" id="{74DB3F17-BA9C-7B99-FC15-3D5627A20062}"/>
              </a:ext>
            </a:extLst>
          </p:cNvPr>
          <p:cNvSpPr/>
          <p:nvPr/>
        </p:nvSpPr>
        <p:spPr>
          <a:xfrm>
            <a:off x="10479072" y="327607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>
              <a:solidFill>
                <a:srgbClr val="FF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9C1FD4E-359A-D91B-9AE3-45877EDE7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921" y="3500818"/>
            <a:ext cx="8168932" cy="89431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EDF942F-A992-CD42-DEB7-BC137E7BA1FD}"/>
              </a:ext>
            </a:extLst>
          </p:cNvPr>
          <p:cNvSpPr txBox="1"/>
          <p:nvPr/>
        </p:nvSpPr>
        <p:spPr>
          <a:xfrm>
            <a:off x="9006531" y="4118130"/>
            <a:ext cx="1304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</a:rPr>
              <a:t>Sahani Peiris</a:t>
            </a:r>
          </a:p>
        </p:txBody>
      </p:sp>
    </p:spTree>
    <p:extLst>
      <p:ext uri="{BB962C8B-B14F-4D97-AF65-F5344CB8AC3E}">
        <p14:creationId xmlns:p14="http://schemas.microsoft.com/office/powerpoint/2010/main" val="702853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3406-02BF-F81D-7D3C-D1E51649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7D807B-B902-D8B8-08C4-482AC415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28" y="626891"/>
            <a:ext cx="9404723" cy="525253"/>
          </a:xfrm>
        </p:spPr>
        <p:txBody>
          <a:bodyPr rtlCol="0"/>
          <a:lstStyle/>
          <a:p>
            <a:pPr rtl="0"/>
            <a:r>
              <a:rPr lang="de-AT" sz="3200" noProof="0" dirty="0"/>
              <a:t>Stand der Technik - KI - Asset </a:t>
            </a:r>
            <a:r>
              <a:rPr lang="de-AT" sz="3200" noProof="0" dirty="0" err="1"/>
              <a:t>generierung</a:t>
            </a:r>
            <a:endParaRPr lang="de-AT" sz="3200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D02437-7014-A3D1-B4E8-51829187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noProof="0" dirty="0"/>
          </a:p>
        </p:txBody>
      </p:sp>
      <p:sp>
        <p:nvSpPr>
          <p:cNvPr id="5" name="Rechteck 4" descr="Gears">
            <a:extLst>
              <a:ext uri="{FF2B5EF4-FFF2-40B4-BE49-F238E27FC236}">
                <a16:creationId xmlns:a16="http://schemas.microsoft.com/office/drawing/2014/main" id="{48EF0855-1AE9-AADA-AE89-1943FA53C8FD}"/>
              </a:ext>
            </a:extLst>
          </p:cNvPr>
          <p:cNvSpPr/>
          <p:nvPr/>
        </p:nvSpPr>
        <p:spPr>
          <a:xfrm>
            <a:off x="10479072" y="327607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>
              <a:solidFill>
                <a:srgbClr val="FF0000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047B1F3-CECB-A5B1-C36C-E34002D6D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303" y="4004007"/>
            <a:ext cx="8487960" cy="274358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1B8E4D4-D7C0-0399-3908-50D5B0C0E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97" y="1245192"/>
            <a:ext cx="6704811" cy="30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1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9204-4804-424E-6C14-1C2ECF4C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BA356-DD82-53AC-2D44-A679436F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349" y="635733"/>
            <a:ext cx="9404723" cy="525253"/>
          </a:xfrm>
        </p:spPr>
        <p:txBody>
          <a:bodyPr rtlCol="0"/>
          <a:lstStyle/>
          <a:p>
            <a:pPr rtl="0"/>
            <a:r>
              <a:rPr lang="de-AT" sz="3200" noProof="0" dirty="0"/>
              <a:t>Stand der Technik – gen. KI-Spieleentwicklung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F7C66E-7291-9C93-A634-79028C948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noProof="0" dirty="0"/>
          </a:p>
        </p:txBody>
      </p:sp>
      <p:sp>
        <p:nvSpPr>
          <p:cNvPr id="5" name="Rechteck 4" descr="Gears">
            <a:extLst>
              <a:ext uri="{FF2B5EF4-FFF2-40B4-BE49-F238E27FC236}">
                <a16:creationId xmlns:a16="http://schemas.microsoft.com/office/drawing/2014/main" id="{3995F39B-8427-C262-D833-C740B074D306}"/>
              </a:ext>
            </a:extLst>
          </p:cNvPr>
          <p:cNvSpPr/>
          <p:nvPr/>
        </p:nvSpPr>
        <p:spPr>
          <a:xfrm>
            <a:off x="10479072" y="327607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>
              <a:solidFill>
                <a:srgbClr val="FF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2DC03B0-88CC-5D71-B59C-552467762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736" y="2052918"/>
            <a:ext cx="7193195" cy="416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7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6AE8B-A0C8-A5E0-AB9F-9EE8094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Forschungslücke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C978CB-F522-D2E8-625E-3538B49CC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Aktuelle</a:t>
            </a:r>
            <a:r>
              <a:rPr lang="en-GB" dirty="0"/>
              <a:t> </a:t>
            </a:r>
            <a:r>
              <a:rPr lang="en-GB" dirty="0" err="1"/>
              <a:t>Studien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Gaming Segment </a:t>
            </a:r>
            <a:r>
              <a:rPr lang="en-GB" dirty="0" err="1"/>
              <a:t>behandeln</a:t>
            </a:r>
            <a:r>
              <a:rPr lang="en-GB" dirty="0"/>
              <a:t> oft </a:t>
            </a:r>
            <a:r>
              <a:rPr lang="en-GB" dirty="0" err="1"/>
              <a:t>nur</a:t>
            </a:r>
            <a:r>
              <a:rPr lang="en-GB" dirty="0"/>
              <a:t> die </a:t>
            </a:r>
            <a:r>
              <a:rPr lang="en-GB" dirty="0" err="1"/>
              <a:t>Möglichkeiten</a:t>
            </a:r>
            <a:r>
              <a:rPr lang="en-GB" dirty="0"/>
              <a:t> von KI in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speziellen</a:t>
            </a:r>
            <a:r>
              <a:rPr lang="en-GB" dirty="0"/>
              <a:t> </a:t>
            </a:r>
            <a:r>
              <a:rPr lang="en-GB" dirty="0" err="1"/>
              <a:t>Szenario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</a:t>
            </a:r>
            <a:r>
              <a:rPr lang="en-GB" dirty="0" err="1"/>
              <a:t>Erstellen</a:t>
            </a:r>
            <a:r>
              <a:rPr lang="en-GB" dirty="0"/>
              <a:t> von Game-Assets via stable diffusion, generative KI für Game-Design)</a:t>
            </a:r>
          </a:p>
          <a:p>
            <a:r>
              <a:rPr lang="de-AT" dirty="0"/>
              <a:t>Aufgrund der rasanten Weiterentwicklung generativer KI-Systeme untersuchen bestehende Studien, im Bereich der Spieleentwicklung, häufig noch textbasierte LLM-Interaktionen, während moderne generative KI-Tools zunehmend über Tool Use, Dateizugriff und Zugriff auf größere Teile einer Codebasis verfügen.</a:t>
            </a:r>
            <a:endParaRPr lang="en-GB" dirty="0"/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FC44C4D2-83C5-BC90-0E7C-5108C0368CE0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213547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8955-9381-B2EF-CE0A-34DF7E00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76F2F6-EEE2-D01F-9CAA-97F31B26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Rahmen der Arbeit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74DC95-0B1B-97D3-F624-96F32957E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AT" b="1" dirty="0"/>
              <a:t>Wills</a:t>
            </a:r>
            <a:endParaRPr lang="de-AT" dirty="0"/>
          </a:p>
          <a:p>
            <a:r>
              <a:rPr lang="de-AT" dirty="0"/>
              <a:t>Entwicklung eines Solo-RPGs</a:t>
            </a:r>
            <a:br>
              <a:rPr lang="de-AT" dirty="0"/>
            </a:br>
            <a:r>
              <a:rPr lang="de-AT" dirty="0"/>
              <a:t>gezielter Einsatz generativer KI-Tools in verschiedenen Entwicklungsbereichen</a:t>
            </a:r>
            <a:br>
              <a:rPr lang="de-AT" dirty="0"/>
            </a:br>
            <a:r>
              <a:rPr lang="de-AT" dirty="0"/>
              <a:t>Untersuchung von </a:t>
            </a:r>
            <a:r>
              <a:rPr lang="de-AT" b="1" dirty="0"/>
              <a:t>Effizienz, Möglichkeiten und Limitationen</a:t>
            </a:r>
            <a:br>
              <a:rPr lang="de-AT" dirty="0"/>
            </a:br>
            <a:r>
              <a:rPr lang="de-AT" dirty="0"/>
              <a:t>konkrete Betrachtung von langfristiger Arbeit mit einer wachsenden Codebasis</a:t>
            </a:r>
          </a:p>
          <a:p>
            <a:endParaRPr lang="de-AT" dirty="0"/>
          </a:p>
          <a:p>
            <a:r>
              <a:rPr lang="de-AT" b="1" dirty="0" err="1"/>
              <a:t>Wont‘s</a:t>
            </a:r>
            <a:endParaRPr lang="de-AT" dirty="0"/>
          </a:p>
          <a:p>
            <a:r>
              <a:rPr lang="de-AT" dirty="0"/>
              <a:t>systematischer Vergleich verschiedener </a:t>
            </a:r>
            <a:r>
              <a:rPr lang="de-AT" dirty="0" err="1"/>
              <a:t>Agentic</a:t>
            </a:r>
            <a:r>
              <a:rPr lang="de-AT" dirty="0"/>
              <a:t>-AI-Architekturen</a:t>
            </a:r>
            <a:br>
              <a:rPr lang="de-AT" dirty="0"/>
            </a:br>
            <a:r>
              <a:rPr lang="de-AT" dirty="0"/>
              <a:t>Benchmarking verschiedener LLMs</a:t>
            </a:r>
            <a:br>
              <a:rPr lang="de-AT" dirty="0"/>
            </a:br>
            <a:r>
              <a:rPr lang="de-AT" dirty="0"/>
              <a:t>allgemeine Untersuchung von AI </a:t>
            </a:r>
            <a:r>
              <a:rPr lang="de-AT" dirty="0" err="1"/>
              <a:t>Agents</a:t>
            </a:r>
            <a:br>
              <a:rPr lang="de-AT" dirty="0"/>
            </a:br>
            <a:r>
              <a:rPr lang="de-AT" dirty="0"/>
              <a:t>Vergleich von Stable Diffusion, LLMs, Voice Models </a:t>
            </a:r>
            <a:r>
              <a:rPr lang="de-AT" dirty="0" err="1"/>
              <a:t>etc.I</a:t>
            </a:r>
            <a:br>
              <a:rPr lang="de-AT" dirty="0"/>
            </a:br>
            <a:r>
              <a:rPr lang="de-AT" dirty="0"/>
              <a:t>Analyse von „KI“ (Algorithmen) als Spielmechanik z.B. Gegnerverhalten</a:t>
            </a:r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6D995F89-B16F-E33B-BCE8-808974979B09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9508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EF6B7-4AAB-6A75-89DD-1017028A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Beitrag</a:t>
            </a:r>
            <a:r>
              <a:rPr lang="en-GB" dirty="0"/>
              <a:t> der BA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ABBCDB4-B908-64CA-0106-561B5D945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929" y="1332589"/>
            <a:ext cx="6173061" cy="3496163"/>
          </a:xfrm>
          <a:prstGeom prst="rect">
            <a:avLst/>
          </a:prstGeom>
        </p:spPr>
      </p:pic>
      <p:sp>
        <p:nvSpPr>
          <p:cNvPr id="7" name="Rechteck 6" descr="Magnifying glass">
            <a:extLst>
              <a:ext uri="{FF2B5EF4-FFF2-40B4-BE49-F238E27FC236}">
                <a16:creationId xmlns:a16="http://schemas.microsoft.com/office/drawing/2014/main" id="{3F21AFCD-816D-C69A-D077-4E0ED9A8233B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3BF242E-7987-927D-9DE6-73A4B55F6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162" y="2733119"/>
            <a:ext cx="5896798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49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D0DF6-64BB-6532-8DFF-AC23D355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1739B-8A3E-B829-CEDE-C3865D7E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Beitrag der BA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5130FA-A13A-97D0-0F4D-25E464074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b="1" dirty="0"/>
              <a:t>Untersuchung des Einsatzes generativer KI-Tools bei der Entwicklung eines komplexen Solo-RPG-Projekts</a:t>
            </a:r>
          </a:p>
          <a:p>
            <a:endParaRPr lang="de-AT" dirty="0"/>
          </a:p>
          <a:p>
            <a:pPr lvl="1"/>
            <a:r>
              <a:rPr lang="de-AT" dirty="0"/>
              <a:t>Möglichkeiten &amp; Limitationen bei der RPG-Entwicklung </a:t>
            </a:r>
          </a:p>
          <a:p>
            <a:pPr lvl="1"/>
            <a:r>
              <a:rPr lang="de-AT" dirty="0"/>
              <a:t>Skalierbarkeit und Interaktion mit Unity / bestehender Codebasis </a:t>
            </a:r>
          </a:p>
          <a:p>
            <a:pPr lvl="1"/>
            <a:r>
              <a:rPr lang="de-AT" dirty="0"/>
              <a:t>Langzeitkontext und Wiederverwendung bestehender Komponenten </a:t>
            </a:r>
          </a:p>
          <a:p>
            <a:pPr lvl="1"/>
            <a:r>
              <a:rPr lang="de-AT" dirty="0"/>
              <a:t>Vergleich menschlicher und KI-getriebener Softwarearchitektur </a:t>
            </a:r>
          </a:p>
          <a:p>
            <a:pPr lvl="1"/>
            <a:r>
              <a:rPr lang="de-AT" dirty="0"/>
              <a:t>Quantifizierung der Zeitersparnis und des Entwicklungsaufwands </a:t>
            </a:r>
          </a:p>
          <a:p>
            <a:pPr lvl="1"/>
            <a:r>
              <a:rPr lang="de-AT" dirty="0"/>
              <a:t>Analyse von KI-eigenen Interpretationen und Abweichungen von Vorgaben</a:t>
            </a:r>
          </a:p>
        </p:txBody>
      </p:sp>
      <p:sp>
        <p:nvSpPr>
          <p:cNvPr id="4" name="Rechteck 3" descr="Magnifying glass">
            <a:extLst>
              <a:ext uri="{FF2B5EF4-FFF2-40B4-BE49-F238E27FC236}">
                <a16:creationId xmlns:a16="http://schemas.microsoft.com/office/drawing/2014/main" id="{BC526CD8-FD25-16DE-BF72-C2D6E5CDBA31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281692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EEE2F-1BA8-5351-CFDC-958CFC25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Beitrag der BA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7F3C81-94C6-39CA-9AC4-2FDEC44AE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AT" dirty="0"/>
              <a:t>Untersuchung der aktuellen Möglichkeiten und Limitationen generativer KI-Tools in der Entwicklung komplexer RPG-Spiele </a:t>
            </a:r>
          </a:p>
          <a:p>
            <a:pPr lvl="1"/>
            <a:r>
              <a:rPr lang="de-AT" b="1" dirty="0"/>
              <a:t>Analyse der Skalierbarkeit</a:t>
            </a:r>
            <a:r>
              <a:rPr lang="de-AT" dirty="0"/>
              <a:t> generativer KI-Tools bei zunehmender Projektgröße und Komplexität sowie deren </a:t>
            </a:r>
            <a:r>
              <a:rPr lang="de-AT" b="1" dirty="0"/>
              <a:t>Interaktion mit der Unity-Engine und einer bestehenden Codebasis</a:t>
            </a:r>
          </a:p>
          <a:p>
            <a:pPr lvl="1"/>
            <a:r>
              <a:rPr lang="de-AT" b="1" dirty="0"/>
              <a:t>Untersuchung des Erinnerungs- und Kontextvermögens</a:t>
            </a:r>
            <a:r>
              <a:rPr lang="de-AT" dirty="0"/>
              <a:t> bei der langfristigen Projektentwicklung, insbesondere bei der Wiederverwendung und Weiterentwicklung bereits bestehender Komponenten</a:t>
            </a:r>
          </a:p>
          <a:p>
            <a:pPr lvl="1"/>
            <a:r>
              <a:rPr lang="de-AT" b="1" dirty="0"/>
              <a:t>Vergleich menschlich entworfener und KI-getriebener Softwarearchitekturen</a:t>
            </a:r>
            <a:r>
              <a:rPr lang="de-AT" dirty="0"/>
              <a:t> hinsichtlich Struktur, Wartbarkeit und Erweiterbarkeit</a:t>
            </a:r>
            <a:r>
              <a:rPr lang="de-AT" noProof="0" dirty="0"/>
              <a:t>Ermitteln des Mehrwerts in Form von Zeitersparnis</a:t>
            </a:r>
          </a:p>
          <a:p>
            <a:pPr lvl="1"/>
            <a:r>
              <a:rPr lang="de-AT" b="1" dirty="0"/>
              <a:t>Quantifizierung des Mehrwerts durch generative KI-Tools</a:t>
            </a:r>
            <a:r>
              <a:rPr lang="de-AT" dirty="0"/>
              <a:t>, insbesondere anhand der erzielten Zeitersparnis in unterschiedlichen Entwicklungsbereichen</a:t>
            </a:r>
            <a:endParaRPr lang="de-AT" noProof="0" dirty="0"/>
          </a:p>
          <a:p>
            <a:pPr lvl="1"/>
            <a:r>
              <a:rPr lang="de-AT" b="1" dirty="0"/>
              <a:t>Analyse eigenständiger Interpretationen und Annahmen</a:t>
            </a:r>
            <a:r>
              <a:rPr lang="de-AT" dirty="0"/>
              <a:t> generativer KI-Tools bei nicht vollständig spezifizierten Anforderungen sowie Untersuchung daraus resultierender</a:t>
            </a:r>
          </a:p>
          <a:p>
            <a:pPr lvl="1"/>
            <a:r>
              <a:rPr lang="de-AT" b="1" dirty="0"/>
              <a:t>Analyse eigenständiger Interpretationen und Annahmen</a:t>
            </a:r>
            <a:r>
              <a:rPr lang="de-AT" dirty="0"/>
              <a:t> generativer KI-Tools bei nicht vollständig spezifizierten Anforderungen sowie Untersuchung daraus resultierender Abweichungen von den ursprünglichen Vorgaben </a:t>
            </a:r>
            <a:r>
              <a:rPr lang="de-AT" b="1" dirty="0"/>
              <a:t>Dokumentation praktischer Erfahrungen und identifizierter Grenzen</a:t>
            </a:r>
            <a:r>
              <a:rPr lang="de-AT" dirty="0"/>
              <a:t> beim Einsatz generativer KI-Tools über den Verlauf eines zusammenhängenden, komplexen Solo-RPG-Projekts Abweichungen von den ursprünglichen Vorgaben </a:t>
            </a:r>
          </a:p>
          <a:p>
            <a:pPr lvl="1"/>
            <a:r>
              <a:rPr lang="de-AT" b="1" dirty="0"/>
              <a:t>Dokumentation praktischer Erfahrungen und identifizierter Grenzen</a:t>
            </a:r>
            <a:r>
              <a:rPr lang="de-AT" dirty="0"/>
              <a:t> beim Einsatz generativer KI-Tools über den Verlauf eines zusammenhängenden, komplexen Solo-RPG-Projekts</a:t>
            </a:r>
            <a:endParaRPr lang="de-AT" noProof="0" dirty="0"/>
          </a:p>
        </p:txBody>
      </p:sp>
      <p:sp>
        <p:nvSpPr>
          <p:cNvPr id="4" name="Rechteck 3" descr="Magnifying glass">
            <a:extLst>
              <a:ext uri="{FF2B5EF4-FFF2-40B4-BE49-F238E27FC236}">
                <a16:creationId xmlns:a16="http://schemas.microsoft.com/office/drawing/2014/main" id="{7EBE845D-028C-E03A-A439-4A0667719027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43583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CC9E72-A3A8-F6F3-A890-2CC2A64B7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Forschungsfragen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956C7E-1A77-4CCC-1E71-620001C5E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AT" b="1" dirty="0"/>
              <a:t>Hauptfrage</a:t>
            </a:r>
            <a:r>
              <a:rPr lang="de-AT" dirty="0"/>
              <a:t>: </a:t>
            </a:r>
          </a:p>
          <a:p>
            <a:pPr lvl="1"/>
            <a:r>
              <a:rPr lang="de-AT" b="1" dirty="0"/>
              <a:t>Welche Möglichkeiten und Limitationen ergeben sich beim gezielten Einsatz generativer KI-Tools bei der Entwicklung eines komplexen Solo-RPG-Projekts und welchen Einfluss hat deren Einsatz auf den Entwicklungsaufwand?</a:t>
            </a:r>
            <a:endParaRPr lang="de-AT" dirty="0"/>
          </a:p>
          <a:p>
            <a:r>
              <a:rPr lang="de-AT" b="1" dirty="0"/>
              <a:t>UF1 – Effizienz</a:t>
            </a:r>
            <a:endParaRPr lang="de-AT" dirty="0"/>
          </a:p>
          <a:p>
            <a:pPr lvl="1"/>
            <a:r>
              <a:rPr lang="de-AT" dirty="0"/>
              <a:t>Welche Entwicklungsbereiche (Programmierung, Dokumentation, Debugging, Game Design, Asset-Erstellung, </a:t>
            </a:r>
            <a:r>
              <a:rPr lang="de-AT" dirty="0" err="1"/>
              <a:t>Testing</a:t>
            </a:r>
            <a:r>
              <a:rPr lang="de-AT" dirty="0"/>
              <a:t>) können durch </a:t>
            </a:r>
            <a:r>
              <a:rPr lang="de-AT"/>
              <a:t>generative KI </a:t>
            </a:r>
            <a:r>
              <a:rPr lang="de-AT" dirty="0"/>
              <a:t>im Sinne von Zeitersparnis unterstützt  werden und welche Zeitersparnisse lassen sich dabei erzielen?</a:t>
            </a:r>
          </a:p>
          <a:p>
            <a:r>
              <a:rPr lang="de-AT" b="1" dirty="0"/>
              <a:t>UF2 – Skalierbarkeit und Limitationen</a:t>
            </a:r>
            <a:endParaRPr lang="de-AT" dirty="0"/>
          </a:p>
          <a:p>
            <a:pPr lvl="1"/>
            <a:r>
              <a:rPr lang="de-AT" dirty="0"/>
              <a:t>Welche technischen und methodischen Limitationen treten beim Einsatz generativer KI über den Verlauf eines komplexen und wachsenden Spieleprojekts auf?</a:t>
            </a:r>
          </a:p>
          <a:p>
            <a:r>
              <a:rPr lang="de-AT" b="1" dirty="0"/>
              <a:t>UF3 – Architektur</a:t>
            </a:r>
            <a:endParaRPr lang="de-AT" dirty="0"/>
          </a:p>
          <a:p>
            <a:pPr lvl="1"/>
            <a:r>
              <a:rPr lang="de-AT" dirty="0"/>
              <a:t>Welche Unterschiede ergeben sich zwischen menschlich entworfenen und KI-generierten Softwarearchitekturen hinsichtlich Modularität, Wartbarkeit und Erweiterbarkeit</a:t>
            </a:r>
          </a:p>
          <a:p>
            <a:r>
              <a:rPr lang="de-AT" b="1" dirty="0"/>
              <a:t>UF4 – Interpretation</a:t>
            </a:r>
            <a:endParaRPr lang="de-AT" dirty="0"/>
          </a:p>
          <a:p>
            <a:pPr lvl="1"/>
            <a:r>
              <a:rPr lang="de-AT" dirty="0"/>
              <a:t>In welchem Umfang trifft ein generatives KI-System bei unvollständig oder mehrdeutig spezifizierten Anforderungen eigenständige Annahmen und weicht dadurch von den ursprünglichen Vorgaben ab</a:t>
            </a:r>
          </a:p>
          <a:p>
            <a:endParaRPr lang="de-AT" dirty="0"/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F111785B-A67B-C056-7D0D-25B9CE15038A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6592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29199-4EFD-39FE-4581-0966DCA1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Methodik und Nachweis der Nachvollziehbarkeit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01A681-60F0-DB5E-F10D-C8BC2798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2" y="2052918"/>
            <a:ext cx="8799105" cy="4195481"/>
          </a:xfrm>
        </p:spPr>
        <p:txBody>
          <a:bodyPr>
            <a:normAutofit/>
          </a:bodyPr>
          <a:lstStyle/>
          <a:p>
            <a:r>
              <a:rPr lang="de-AT" noProof="0" dirty="0"/>
              <a:t>Case Study: konkrete Umsetzung eines Spieles nach Game Design Dokument </a:t>
            </a:r>
            <a:r>
              <a:rPr lang="de-AT" noProof="0" dirty="0" err="1"/>
              <a:t>Chaining</a:t>
            </a:r>
            <a:r>
              <a:rPr lang="de-AT" noProof="0" dirty="0"/>
              <a:t> Chronicle</a:t>
            </a:r>
            <a:br>
              <a:rPr lang="de-AT" noProof="0" dirty="0"/>
            </a:br>
            <a:endParaRPr lang="de-AT" noProof="0" dirty="0"/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FBE012AC-43EA-3BBA-1A7D-EBD11FD53240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13570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E8941-0C65-D5EC-076D-ADF06E35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F3D31-DD15-39FD-DE9F-A6EAFA99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Methodik und Nachweis der Nachvollziehbarkeit - Effizienz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22506F-9C56-B556-22E2-95F740BE1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2" y="2052918"/>
            <a:ext cx="8799105" cy="4195481"/>
          </a:xfrm>
        </p:spPr>
        <p:txBody>
          <a:bodyPr>
            <a:normAutofit fontScale="92500" lnSpcReduction="10000"/>
          </a:bodyPr>
          <a:lstStyle/>
          <a:p>
            <a:r>
              <a:rPr lang="de-DE" noProof="0" dirty="0"/>
              <a:t>1. Auswahl repräsentativer Entwicklungsaufgaben </a:t>
            </a:r>
          </a:p>
          <a:p>
            <a:pPr lvl="1"/>
            <a:r>
              <a:rPr lang="de-DE" noProof="0" dirty="0"/>
              <a:t>Wahrscheinlich repräsentativ: Asset-Erstellung und –Integration, Programmarchitektur, Implementierung </a:t>
            </a:r>
            <a:r>
              <a:rPr lang="de-DE" dirty="0"/>
              <a:t>von Gameplay-Systemen, Dokumentation</a:t>
            </a:r>
            <a:endParaRPr lang="de-DE" noProof="0" dirty="0"/>
          </a:p>
          <a:p>
            <a:pPr lvl="1"/>
            <a:r>
              <a:rPr lang="de-DE" dirty="0"/>
              <a:t>Unwahrscheinlich repräsentativ: Szenenaufbau, UI-Entwicklung</a:t>
            </a:r>
            <a:r>
              <a:rPr lang="de-DE" noProof="0" dirty="0"/>
              <a:t>, Debugging, </a:t>
            </a:r>
            <a:r>
              <a:rPr lang="de-DE" noProof="0" dirty="0" err="1"/>
              <a:t>Testing</a:t>
            </a:r>
            <a:endParaRPr lang="de-DE" noProof="0" dirty="0"/>
          </a:p>
          <a:p>
            <a:r>
              <a:rPr lang="de-DE" noProof="0" dirty="0"/>
              <a:t>2. Durchführung mit generativem KI-Tool</a:t>
            </a:r>
          </a:p>
          <a:p>
            <a:r>
              <a:rPr lang="de-DE" noProof="0" dirty="0"/>
              <a:t>3. Vergleich der Entwicklungszeiten</a:t>
            </a:r>
          </a:p>
          <a:p>
            <a:endParaRPr lang="de-DE" dirty="0"/>
          </a:p>
          <a:p>
            <a:r>
              <a:rPr lang="de-DE" noProof="0" dirty="0"/>
              <a:t>Abgrenzung: Zeitersparnis aufgrund von KI </a:t>
            </a:r>
            <a:r>
              <a:rPr lang="de-DE" noProof="0" dirty="0" err="1"/>
              <a:t>vs</a:t>
            </a:r>
            <a:r>
              <a:rPr lang="de-DE" noProof="0" dirty="0"/>
              <a:t> bereits aufgebautem Wissen</a:t>
            </a:r>
            <a:r>
              <a:rPr lang="de-DE" dirty="0"/>
              <a:t>.</a:t>
            </a:r>
          </a:p>
          <a:p>
            <a:pPr lvl="1"/>
            <a:r>
              <a:rPr lang="de-DE" noProof="0" dirty="0"/>
              <a:t>Abhilfe: Aufbau m</a:t>
            </a:r>
            <a:r>
              <a:rPr lang="de-DE" dirty="0" err="1"/>
              <a:t>enschlicher</a:t>
            </a:r>
            <a:r>
              <a:rPr lang="de-DE" dirty="0"/>
              <a:t> Architektur zuerst und </a:t>
            </a:r>
            <a:r>
              <a:rPr lang="de-DE" dirty="0" err="1"/>
              <a:t>Prompting</a:t>
            </a:r>
            <a:r>
              <a:rPr lang="de-DE" dirty="0"/>
              <a:t> für </a:t>
            </a:r>
            <a:r>
              <a:rPr lang="de-DE" dirty="0" err="1"/>
              <a:t>generatvie</a:t>
            </a:r>
            <a:r>
              <a:rPr lang="de-DE" dirty="0"/>
              <a:t> KI auf Zielbeschreibung fokussieren, nicht auf Umsetzung</a:t>
            </a:r>
            <a:endParaRPr lang="de-AT" noProof="0" dirty="0"/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AD8DFF32-DD5E-44CE-8ED5-FE60D1D5A4A4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DFD713-31F9-5A2D-0F0D-774A4E3A8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3338" y="1181527"/>
            <a:ext cx="2734002" cy="554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2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CF04D-4531-406F-02C3-61F84EDA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68169-1F32-4136-89D5-1FF73E7F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Methodik und Nachweis der Nachvollziehbarkeit - Skalierbarkeit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3D3A61-1A1B-1D31-57DA-C45A9092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2" y="2052918"/>
            <a:ext cx="8799105" cy="4195481"/>
          </a:xfrm>
        </p:spPr>
        <p:txBody>
          <a:bodyPr>
            <a:normAutofit/>
          </a:bodyPr>
          <a:lstStyle/>
          <a:p>
            <a:pPr lvl="0"/>
            <a:r>
              <a:rPr lang="de-AT" dirty="0"/>
              <a:t>Beobachtung bei wachsender Anzahl von Scripts, Systemen, Abhängigkeiten </a:t>
            </a:r>
          </a:p>
          <a:p>
            <a:r>
              <a:rPr lang="de-AT" b="1" dirty="0"/>
              <a:t>Beobachtungskriterien bei Erstellung eines neuen Gameplaysystems</a:t>
            </a:r>
          </a:p>
          <a:p>
            <a:pPr lvl="1"/>
            <a:r>
              <a:rPr lang="de-AT" dirty="0"/>
              <a:t>Kennt das Tool bestehende Komponenten? </a:t>
            </a:r>
          </a:p>
          <a:p>
            <a:pPr lvl="1"/>
            <a:r>
              <a:rPr lang="de-AT" dirty="0"/>
              <a:t>Verwendet es vorhandene Systeme wieder? </a:t>
            </a:r>
          </a:p>
          <a:p>
            <a:pPr lvl="1"/>
            <a:r>
              <a:rPr lang="de-AT" dirty="0"/>
              <a:t>Erstellt es redundante Komponenten? </a:t>
            </a:r>
          </a:p>
          <a:p>
            <a:pPr lvl="1"/>
            <a:r>
              <a:rPr lang="de-AT" dirty="0"/>
              <a:t>Versteht es Abhängigkeiten zwischen Scripts? </a:t>
            </a:r>
          </a:p>
          <a:p>
            <a:pPr lvl="1"/>
            <a:r>
              <a:rPr lang="de-AT" dirty="0"/>
              <a:t>Muss Kontext wiederholt bereitgestellt werden? </a:t>
            </a:r>
          </a:p>
          <a:p>
            <a:pPr lvl="1"/>
            <a:r>
              <a:rPr lang="de-AT" dirty="0"/>
              <a:t>Werden frühere Architekturentscheidungen eingehalten? </a:t>
            </a:r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1E6D5E95-81CE-DD9D-138C-A1CA77ACF200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F6F787-4991-6DC2-F239-030ED4CF8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198" y="1748745"/>
            <a:ext cx="2538835" cy="500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64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4D7BF-4B31-2FC5-48AD-C0F273F9A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C43DA-0CB5-82D0-4BB9-A2423D5A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Methodik und Nachweis der Nachvollziehbarkeit -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0CB290-16A4-1FC9-DF49-4C825D486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2" y="2052918"/>
            <a:ext cx="8799105" cy="4195481"/>
          </a:xfrm>
        </p:spPr>
        <p:txBody>
          <a:bodyPr>
            <a:normAutofit/>
          </a:bodyPr>
          <a:lstStyle/>
          <a:p>
            <a:r>
              <a:rPr lang="de-AT" noProof="0" dirty="0"/>
              <a:t>Vorgabe aus GDD prinzipiell nur Features</a:t>
            </a:r>
            <a:r>
              <a:rPr lang="de-AT" dirty="0"/>
              <a:t>.</a:t>
            </a:r>
          </a:p>
          <a:p>
            <a:pPr lvl="1"/>
            <a:r>
              <a:rPr lang="de-AT" dirty="0"/>
              <a:t>Erstellen eines Architektur Konzepts vor anderen Umsetzungsschritten basierend auf GDD.</a:t>
            </a:r>
          </a:p>
          <a:p>
            <a:r>
              <a:rPr lang="de-AT" noProof="0" dirty="0"/>
              <a:t>Sinnvoll</a:t>
            </a:r>
            <a:r>
              <a:rPr lang="de-AT" dirty="0"/>
              <a:t>e Verknüpfung von Systemen</a:t>
            </a:r>
          </a:p>
          <a:p>
            <a:r>
              <a:rPr lang="de-AT" dirty="0"/>
              <a:t>Zuweisung von technischer Verantwortung</a:t>
            </a:r>
          </a:p>
          <a:p>
            <a:endParaRPr lang="de-AT" noProof="0" dirty="0"/>
          </a:p>
          <a:p>
            <a:r>
              <a:rPr lang="de-AT" dirty="0"/>
              <a:t>Möglicherweise </a:t>
            </a:r>
            <a:r>
              <a:rPr lang="de-AT" dirty="0" err="1"/>
              <a:t>Cyclomatic</a:t>
            </a:r>
            <a:r>
              <a:rPr lang="de-AT" dirty="0"/>
              <a:t> </a:t>
            </a:r>
            <a:r>
              <a:rPr lang="de-AT" dirty="0" err="1"/>
              <a:t>Complexity</a:t>
            </a:r>
            <a:r>
              <a:rPr lang="de-AT"/>
              <a:t>, SLOC</a:t>
            </a:r>
            <a:endParaRPr lang="de-AT" noProof="0" dirty="0"/>
          </a:p>
          <a:p>
            <a:r>
              <a:rPr lang="de-AT" dirty="0"/>
              <a:t>Häufigkeit der Anpassung von bestehenden Komponenten</a:t>
            </a:r>
          </a:p>
          <a:p>
            <a:endParaRPr lang="de-AT" dirty="0"/>
          </a:p>
          <a:p>
            <a:endParaRPr lang="de-AT" dirty="0"/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434A6088-A1D5-F37A-590D-79BCC1CDA2DA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3983888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4239-FFBA-12AF-A0A3-2161C165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CBECE-6744-BD8C-DC09-C6FE154C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Methodik und Nachweis der Nachvollziehbarkeit -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F40B05-DA76-B291-E363-9F2446166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2" y="2052918"/>
            <a:ext cx="8799105" cy="4195481"/>
          </a:xfrm>
        </p:spPr>
        <p:txBody>
          <a:bodyPr>
            <a:normAutofit/>
          </a:bodyPr>
          <a:lstStyle/>
          <a:p>
            <a:endParaRPr lang="de-AT" dirty="0"/>
          </a:p>
          <a:p>
            <a:endParaRPr lang="de-AT" dirty="0"/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46857F62-B6DC-6CFF-58EC-FFE1A0EC6686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E2EC43C-F7EF-FE40-99E1-2E84305BB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961959"/>
              </p:ext>
            </p:extLst>
          </p:nvPr>
        </p:nvGraphicFramePr>
        <p:xfrm>
          <a:off x="1103685" y="2529054"/>
          <a:ext cx="8947149" cy="2743200"/>
        </p:xfrm>
        <a:graphic>
          <a:graphicData uri="http://schemas.openxmlformats.org/drawingml/2006/table">
            <a:tbl>
              <a:tblPr/>
              <a:tblGrid>
                <a:gridCol w="2982383">
                  <a:extLst>
                    <a:ext uri="{9D8B030D-6E8A-4147-A177-3AD203B41FA5}">
                      <a16:colId xmlns:a16="http://schemas.microsoft.com/office/drawing/2014/main" val="4139939691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174708572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1032787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dirty="0"/>
                        <a:t>Metrik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Menschliche Architektur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KI-Architektur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80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/>
                        <a:t>Zeit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45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85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16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/>
                        <a:t>geänderte Dateien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880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/>
                        <a:t>neue Dateien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217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dirty="0"/>
                        <a:t>bestehende Klassen verändert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148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dirty="0" err="1"/>
                        <a:t>Gestamtanzahl</a:t>
                      </a:r>
                      <a:r>
                        <a:rPr lang="de-AT" dirty="0"/>
                        <a:t> bestehender Klassen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 dirty="0"/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AT" dirty="0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6938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D54165B9-CA11-FB1B-1B55-76B44CCD52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2604" y="5307980"/>
                <a:ext cx="8799105" cy="13046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endParaRPr lang="de-AT" dirty="0"/>
              </a:p>
              <a:p>
                <a:r>
                  <a:rPr lang="de-AT" dirty="0"/>
                  <a:t>Änderungsauswirkung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AT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e-AT" i="1" dirty="0">
                            <a:latin typeface="Cambria Math" panose="02040503050406030204" pitchFamily="18" charset="0"/>
                          </a:rPr>
                          <m:t>veränderte bestehende Klassen</m:t>
                        </m:r>
                      </m:num>
                      <m:den>
                        <m:r>
                          <a:rPr lang="de-AT" i="1">
                            <a:latin typeface="Cambria Math" panose="02040503050406030204" pitchFamily="18" charset="0"/>
                          </a:rPr>
                          <m:t>𝐺𝑒𝑠𝑎𝑚𝑡𝑧𝑎𝑛𝑧𝑎ℎ𝑙</m:t>
                        </m:r>
                        <m:r>
                          <a:rPr lang="de-AT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AT" i="1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de-AT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AT" i="1">
                            <a:latin typeface="Cambria Math" panose="02040503050406030204" pitchFamily="18" charset="0"/>
                          </a:rPr>
                          <m:t>𝐾𝑙𝑎𝑠𝑠𝑒𝑛</m:t>
                        </m:r>
                      </m:den>
                    </m:f>
                  </m:oMath>
                </a14:m>
                <a:endParaRPr lang="de-AT" i="1" dirty="0">
                  <a:latin typeface="Cambria Math" panose="02040503050406030204" pitchFamily="18" charset="0"/>
                </a:endParaRPr>
              </a:p>
              <a:p>
                <a:endParaRPr lang="de-AT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D54165B9-CA11-FB1B-1B55-76B44CCD5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04" y="5307980"/>
                <a:ext cx="8799105" cy="1304692"/>
              </a:xfrm>
              <a:prstGeom prst="rect">
                <a:avLst/>
              </a:prstGeom>
              <a:blipFill>
                <a:blip r:embed="rId4"/>
                <a:stretch>
                  <a:fillRect l="-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59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48F0-EC8E-C320-0F2A-680B7ABB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E9490-793D-FF71-8F86-E2C2C40D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Methodik und Nachweis der Nachvollziehbarkeit - Interpretation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EEE81-7B42-4E33-5426-E09FF1EBE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2" y="2052918"/>
            <a:ext cx="8799105" cy="4195481"/>
          </a:xfrm>
        </p:spPr>
        <p:txBody>
          <a:bodyPr>
            <a:normAutofit lnSpcReduction="10000"/>
          </a:bodyPr>
          <a:lstStyle/>
          <a:p>
            <a:r>
              <a:rPr lang="de-AT" noProof="0" dirty="0"/>
              <a:t>Anforderungen werden in verschiedenen Präzisionsstufen geliefert.</a:t>
            </a:r>
          </a:p>
          <a:p>
            <a:pPr lvl="1"/>
            <a:r>
              <a:rPr lang="de-AT" dirty="0"/>
              <a:t>Z.B. „</a:t>
            </a:r>
            <a:r>
              <a:rPr lang="en-US" dirty="0"/>
              <a:t>The Chaining Chronicle is a rogue like with turn based combat mechanics. Its exploration could be described as a dungeon crawler similar to the mystery dungeon series.”</a:t>
            </a:r>
            <a:endParaRPr lang="de-AT" dirty="0"/>
          </a:p>
          <a:p>
            <a:pPr lvl="1"/>
            <a:endParaRPr lang="de-AT" noProof="0" dirty="0"/>
          </a:p>
          <a:p>
            <a:r>
              <a:rPr lang="de-AT" dirty="0"/>
              <a:t>Anforderung aus GDD → tatsächliche Umsetzung mit KI generieren → Unterschiede oder Annahmen der generativen KI zur Anforderung Aufzeigen</a:t>
            </a:r>
          </a:p>
          <a:p>
            <a:pPr lvl="0"/>
            <a:r>
              <a:rPr lang="de-AT" dirty="0"/>
              <a:t>Erkennt die generative KI bereits Unklarheiten und lässt diese abklären oder werden Annahmen getroffen?</a:t>
            </a:r>
          </a:p>
          <a:p>
            <a:pPr lvl="0"/>
            <a:r>
              <a:rPr lang="de-AT" dirty="0"/>
              <a:t>Funktionieren konkrete Beschreibungen des gewünschten Systems oder vergleich zu bereits etablierten Systemen besser?</a:t>
            </a:r>
          </a:p>
          <a:p>
            <a:endParaRPr lang="de-AT" noProof="0" dirty="0"/>
          </a:p>
        </p:txBody>
      </p:sp>
      <p:sp>
        <p:nvSpPr>
          <p:cNvPr id="5" name="Rechteck 4" descr="Magnifying glass">
            <a:extLst>
              <a:ext uri="{FF2B5EF4-FFF2-40B4-BE49-F238E27FC236}">
                <a16:creationId xmlns:a16="http://schemas.microsoft.com/office/drawing/2014/main" id="{706281CB-C1DF-3E3A-C51B-332FBD3C3203}"/>
              </a:ext>
            </a:extLst>
          </p:cNvPr>
          <p:cNvSpPr/>
          <p:nvPr/>
        </p:nvSpPr>
        <p:spPr>
          <a:xfrm>
            <a:off x="10483016" y="452718"/>
            <a:ext cx="598567" cy="5985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313969"/>
              <a:satOff val="-8924"/>
              <a:lumOff val="-372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AT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FB4FD8A-7A1D-62E2-1387-994818688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942" y="1740232"/>
            <a:ext cx="2497895" cy="500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59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7F7DB-3C25-A3AD-9951-EAF5A971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Ziel WPF2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ECDEFC-DDFC-ED71-8C72-503404A8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AT" b="1" dirty="0"/>
              <a:t>Baseline:</a:t>
            </a:r>
            <a:r>
              <a:rPr lang="de-AT" dirty="0"/>
              <a:t> Konventionelle Umsetzung von </a:t>
            </a:r>
            <a:r>
              <a:rPr lang="de-AT" i="1" dirty="0" err="1"/>
              <a:t>Chaining</a:t>
            </a:r>
            <a:r>
              <a:rPr lang="de-AT" i="1" dirty="0"/>
              <a:t> Chronicle nach GDD (im Rahmen von LV Game Development erstellt)</a:t>
            </a:r>
            <a:r>
              <a:rPr lang="de-AT" dirty="0"/>
              <a:t> </a:t>
            </a:r>
          </a:p>
          <a:p>
            <a:pPr lvl="1"/>
            <a:r>
              <a:rPr lang="de-AT" b="1" dirty="0"/>
              <a:t>Experiment:</a:t>
            </a:r>
            <a:r>
              <a:rPr lang="de-AT" dirty="0"/>
              <a:t> Re-implementierung mit KI-Einsatz anhand derselben GDD-Spezifikation</a:t>
            </a:r>
          </a:p>
          <a:p>
            <a:pPr lvl="2"/>
            <a:r>
              <a:rPr lang="de-AT" dirty="0"/>
              <a:t>Genaue Dokumentation von einzelnen Arbeitsschritten und erstellten Systemen und deren Umsetzungsdauer.</a:t>
            </a:r>
          </a:p>
          <a:p>
            <a:pPr lvl="2"/>
            <a:r>
              <a:rPr lang="de-AT" noProof="0" dirty="0"/>
              <a:t>Unterschiede zwischen beiden Implementationen</a:t>
            </a:r>
            <a:r>
              <a:rPr lang="de-AT" dirty="0"/>
              <a:t>, </a:t>
            </a:r>
            <a:r>
              <a:rPr lang="de-AT" noProof="0" dirty="0"/>
              <a:t>sind kein Problem solange sie nicht der GDD-Spezifikation widersprechen</a:t>
            </a:r>
          </a:p>
          <a:p>
            <a:pPr lvl="1"/>
            <a:r>
              <a:rPr lang="de-AT" noProof="0" dirty="0"/>
              <a:t>Erheben von allen nötigen Metriken, um Forschungsfragen bearbeiten zu können.</a:t>
            </a:r>
          </a:p>
          <a:p>
            <a:pPr lvl="1"/>
            <a:r>
              <a:rPr lang="de-AT" dirty="0"/>
              <a:t>Nicht Ziel: Finetuning von einzelnen Systemen</a:t>
            </a:r>
            <a:endParaRPr lang="de-AT" noProof="0" dirty="0"/>
          </a:p>
          <a:p>
            <a:pPr lvl="2"/>
            <a:endParaRPr lang="de-AT" noProof="0" dirty="0"/>
          </a:p>
          <a:p>
            <a:pPr lvl="2"/>
            <a:endParaRPr lang="de-AT" noProof="0" dirty="0"/>
          </a:p>
          <a:p>
            <a:pPr lvl="1"/>
            <a:endParaRPr lang="de-AT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478B139-188C-CA1C-823E-70D76B267F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8813" y="382371"/>
            <a:ext cx="429547" cy="64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85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60444-2C35-5EC4-3A20-9124B771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431A78-9B51-2BBA-26A8-1A7C28CC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Funktionale </a:t>
            </a:r>
            <a:r>
              <a:rPr lang="de-AT" noProof="0" dirty="0" err="1"/>
              <a:t>Requirements</a:t>
            </a:r>
            <a:endParaRPr lang="de-AT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E56796-36B8-F157-F2A4-576B56AB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Durch GDD spezifiziert:</a:t>
            </a:r>
          </a:p>
          <a:p>
            <a:pPr lvl="1"/>
            <a:r>
              <a:rPr lang="de-AT" dirty="0"/>
              <a:t>Gameplay-Systeme </a:t>
            </a:r>
          </a:p>
          <a:p>
            <a:pPr lvl="1"/>
            <a:r>
              <a:rPr lang="de-AT" dirty="0"/>
              <a:t>Spielfunktionen </a:t>
            </a:r>
          </a:p>
          <a:p>
            <a:pPr lvl="1"/>
            <a:r>
              <a:rPr lang="de-AT" dirty="0"/>
              <a:t>Charakter- und Progressionssysteme </a:t>
            </a:r>
          </a:p>
          <a:p>
            <a:pPr lvl="1"/>
            <a:r>
              <a:rPr lang="de-AT" dirty="0"/>
              <a:t>UI</a:t>
            </a:r>
          </a:p>
          <a:p>
            <a:pPr lvl="1"/>
            <a:r>
              <a:rPr lang="de-AT" dirty="0"/>
              <a:t>Level / Szenen </a:t>
            </a:r>
          </a:p>
          <a:p>
            <a:pPr lvl="1"/>
            <a:r>
              <a:rPr lang="de-AT" dirty="0"/>
              <a:t>Interaktionen </a:t>
            </a:r>
          </a:p>
          <a:p>
            <a:pPr marL="457200" lvl="1" indent="0">
              <a:buNone/>
            </a:pPr>
            <a:endParaRPr lang="de-AT" dirty="0"/>
          </a:p>
          <a:p>
            <a:pPr lvl="1"/>
            <a:endParaRPr lang="de-AT" noProof="0" dirty="0"/>
          </a:p>
          <a:p>
            <a:pPr lvl="1"/>
            <a:endParaRPr lang="de-AT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D0B688A-4AE4-5AE1-4675-989A683F8F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8813" y="382371"/>
            <a:ext cx="429547" cy="64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1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8CE2E-45FA-AC69-73A4-C458E9DF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5BAE8C-955B-5D23-70AC-40E09D2E1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Nicht Funktionale </a:t>
            </a:r>
            <a:r>
              <a:rPr lang="de-AT" noProof="0" dirty="0" err="1"/>
              <a:t>Requirements</a:t>
            </a:r>
            <a:endParaRPr lang="de-AT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77242D-F077-F4D0-D090-6DDEEDFFF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AT" noProof="0" dirty="0" err="1"/>
              <a:t>Must</a:t>
            </a:r>
            <a:endParaRPr lang="de-AT" noProof="0" dirty="0"/>
          </a:p>
          <a:p>
            <a:pPr lvl="1"/>
            <a:r>
              <a:rPr lang="de-AT" noProof="0" dirty="0"/>
              <a:t>M1: Die Spiele-architektur muss so weit wie möglich rein mittels KI aufgebaut werden.</a:t>
            </a:r>
          </a:p>
          <a:p>
            <a:pPr lvl="1"/>
            <a:r>
              <a:rPr lang="de-AT" noProof="0" dirty="0"/>
              <a:t>M2: Es müssen alle Kriterien aus dem GDD </a:t>
            </a:r>
            <a:r>
              <a:rPr lang="de-AT" noProof="0" dirty="0" err="1"/>
              <a:t>Chaining</a:t>
            </a:r>
            <a:r>
              <a:rPr lang="de-AT" noProof="0" dirty="0"/>
              <a:t> Chronicle umgesetzt werden</a:t>
            </a:r>
          </a:p>
          <a:p>
            <a:pPr lvl="1"/>
            <a:r>
              <a:rPr lang="de-AT" dirty="0"/>
              <a:t>M3: Dokumentation und Zeitmessung für das Erstellen von allen Systemen</a:t>
            </a:r>
          </a:p>
          <a:p>
            <a:pPr lvl="1"/>
            <a:r>
              <a:rPr lang="de-AT" dirty="0"/>
              <a:t>M4: Entwicklungsschritte müssen Reproduzierbar und Nachvollziehbar sein</a:t>
            </a:r>
          </a:p>
          <a:p>
            <a:pPr lvl="1"/>
            <a:r>
              <a:rPr lang="de-AT" noProof="0" dirty="0"/>
              <a:t>M5: Verwendung von Claude Sonnet 5, da einzige Möglichkeit im </a:t>
            </a:r>
            <a:r>
              <a:rPr lang="de-AT" noProof="0" dirty="0" err="1"/>
              <a:t>zusammenhang</a:t>
            </a:r>
            <a:r>
              <a:rPr lang="de-AT" noProof="0" dirty="0"/>
              <a:t> mit </a:t>
            </a:r>
            <a:r>
              <a:rPr lang="de-AT" noProof="0" dirty="0" err="1"/>
              <a:t>Agentic</a:t>
            </a:r>
            <a:r>
              <a:rPr lang="de-AT" noProof="0" dirty="0"/>
              <a:t> AI Claude Code</a:t>
            </a:r>
          </a:p>
          <a:p>
            <a:pPr lvl="1"/>
            <a:r>
              <a:rPr lang="de-AT" noProof="0"/>
              <a:t>M6:</a:t>
            </a:r>
            <a:endParaRPr lang="de-AT" noProof="0" dirty="0"/>
          </a:p>
          <a:p>
            <a:r>
              <a:rPr lang="de-AT" noProof="0" dirty="0" err="1"/>
              <a:t>Should</a:t>
            </a:r>
            <a:endParaRPr lang="de-AT" noProof="0" dirty="0"/>
          </a:p>
          <a:p>
            <a:pPr lvl="1"/>
            <a:r>
              <a:rPr lang="de-AT" noProof="0" dirty="0"/>
              <a:t>S1: Im Rahmen des GDD bleiben</a:t>
            </a:r>
          </a:p>
          <a:p>
            <a:pPr lvl="1"/>
            <a:r>
              <a:rPr lang="de-AT" noProof="0" dirty="0"/>
              <a:t>S2: Nutzung von Engine Spezifischen Features hervorheben</a:t>
            </a:r>
          </a:p>
          <a:p>
            <a:pPr lvl="1"/>
            <a:endParaRPr lang="de-AT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40A4C49-D081-D470-CB2C-EFE7874851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8813" y="382371"/>
            <a:ext cx="429547" cy="64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16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B8477-EEDC-C059-9F51-412FCD05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Meilensteinplan WPF2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2C1EFF-8949-F583-FEC4-9BA2FA527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12.09.2026 Kick-Off WFP2, Überarbeitung Methodik, Aufsetzen des Projektes.</a:t>
            </a:r>
          </a:p>
          <a:p>
            <a:r>
              <a:rPr lang="de-AT" dirty="0"/>
              <a:t>03.10.2026 Umsetzung des „Stage Systems“</a:t>
            </a:r>
          </a:p>
          <a:p>
            <a:r>
              <a:rPr lang="de-AT" noProof="0" dirty="0"/>
              <a:t>14.11.2026 Umsetzung des „Combat Systems“</a:t>
            </a:r>
          </a:p>
          <a:p>
            <a:r>
              <a:rPr lang="de-AT" dirty="0"/>
              <a:t>12.12.2026 Umsetzung von UI-Elementen</a:t>
            </a:r>
          </a:p>
          <a:p>
            <a:r>
              <a:rPr lang="de-AT" noProof="0" dirty="0"/>
              <a:t>16.01.2026 Finalisierung des Projektes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D8D3860-8CC8-BB7D-DB04-26538FB058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8813" y="382371"/>
            <a:ext cx="429547" cy="64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161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417_TF78884036_Win32" id="{83A3C3BD-AA7B-4D5D-82EF-28A07A185EC6}" vid="{E433C19B-8F92-4615-8405-12DFF1ECB91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Digitales Design</Template>
  <TotalTime>0</TotalTime>
  <Words>1222</Words>
  <Application>Microsoft Office PowerPoint</Application>
  <PresentationFormat>Breitbild</PresentationFormat>
  <Paragraphs>158</Paragraphs>
  <Slides>21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Calibri</vt:lpstr>
      <vt:lpstr>Cambria Math</vt:lpstr>
      <vt:lpstr>Century Gothic</vt:lpstr>
      <vt:lpstr>Wingdings 3</vt:lpstr>
      <vt:lpstr>Ion</vt:lpstr>
      <vt:lpstr>Generative KI für Solospieleentwicklung: Effizienzauswirkung und Limitationen in einem RPG- Projekt</vt:lpstr>
      <vt:lpstr>Inhalt</vt:lpstr>
      <vt:lpstr>Stand der Technik</vt:lpstr>
      <vt:lpstr>Stand der Technik - KI - Asset generierung</vt:lpstr>
      <vt:lpstr>Stand der Technik – gen. KI-Spieleentwicklung</vt:lpstr>
      <vt:lpstr>Forschungslücke</vt:lpstr>
      <vt:lpstr>Rahmen der Arbeit</vt:lpstr>
      <vt:lpstr>Beitrag der BA</vt:lpstr>
      <vt:lpstr>Beitrag der BA</vt:lpstr>
      <vt:lpstr>Beitrag der BA</vt:lpstr>
      <vt:lpstr>Forschungsfragen</vt:lpstr>
      <vt:lpstr>Methodik und Nachweis der Nachvollziehbarkeit</vt:lpstr>
      <vt:lpstr>Methodik und Nachweis der Nachvollziehbarkeit - Effizienz</vt:lpstr>
      <vt:lpstr>Methodik und Nachweis der Nachvollziehbarkeit - Skalierbarkeit</vt:lpstr>
      <vt:lpstr>Methodik und Nachweis der Nachvollziehbarkeit - Architektur</vt:lpstr>
      <vt:lpstr>Methodik und Nachweis der Nachvollziehbarkeit - Architektur</vt:lpstr>
      <vt:lpstr>Methodik und Nachweis der Nachvollziehbarkeit - Interpretation</vt:lpstr>
      <vt:lpstr>Ziel WPF2</vt:lpstr>
      <vt:lpstr>Funktionale Requirements</vt:lpstr>
      <vt:lpstr>Nicht Funktionale Requirements</vt:lpstr>
      <vt:lpstr>Meilensteinplan WPF2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Marik</dc:creator>
  <cp:lastModifiedBy>Marius Marik</cp:lastModifiedBy>
  <cp:revision>2</cp:revision>
  <dcterms:created xsi:type="dcterms:W3CDTF">2026-07-24T12:41:30Z</dcterms:created>
  <dcterms:modified xsi:type="dcterms:W3CDTF">2026-10-02T15:49:27Z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